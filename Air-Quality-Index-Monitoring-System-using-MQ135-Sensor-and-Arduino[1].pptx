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4630400" cy="8229600"/>
  <p:notesSz cx="8229600" cy="14630400"/>
  <p:embeddedFontLst>
    <p:embeddedFont>
      <p:font typeface="Lora" panose="020F0502020204030204" pitchFamily="2" charset="0"/>
      <p:regular r:id="rId20"/>
    </p:embeddedFont>
    <p:embeddedFont>
      <p:font typeface="Source Sans Pro" panose="020F0502020204030204" pitchFamily="34" charset="0"/>
      <p:regular r:id="rId21"/>
      <p:bold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301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893332"/>
            <a:ext cx="1008638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Introduction to Air Quality Monitoring</a:t>
            </a:r>
            <a:endParaRPr lang="en-US" sz="4400" dirty="0"/>
          </a:p>
        </p:txBody>
      </p:sp>
      <p:sp>
        <p:nvSpPr>
          <p:cNvPr id="3" name="Text 1"/>
          <p:cNvSpPr/>
          <p:nvPr/>
        </p:nvSpPr>
        <p:spPr>
          <a:xfrm>
            <a:off x="837724" y="3195638"/>
            <a:ext cx="3409117"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Importance of Monitoring</a:t>
            </a:r>
            <a:endParaRPr lang="en-US" sz="2200" dirty="0"/>
          </a:p>
        </p:txBody>
      </p:sp>
      <p:sp>
        <p:nvSpPr>
          <p:cNvPr id="4" name="Text 2"/>
          <p:cNvSpPr/>
          <p:nvPr/>
        </p:nvSpPr>
        <p:spPr>
          <a:xfrm>
            <a:off x="837724" y="3786902"/>
            <a:ext cx="6185535"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Monitoring air quality is crucial for assessing the health risks associated with air pollution. Real-time data enables informed decisions to protect public health and the environment. This project offers a practical approach to environmental monitoring.</a:t>
            </a:r>
            <a:endParaRPr lang="en-US" sz="1850" dirty="0"/>
          </a:p>
        </p:txBody>
      </p:sp>
      <p:sp>
        <p:nvSpPr>
          <p:cNvPr id="5" name="Text 3"/>
          <p:cNvSpPr/>
          <p:nvPr/>
        </p:nvSpPr>
        <p:spPr>
          <a:xfrm>
            <a:off x="7614761" y="31956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Key Pollutants</a:t>
            </a:r>
            <a:endParaRPr lang="en-US" sz="2200" dirty="0"/>
          </a:p>
        </p:txBody>
      </p:sp>
      <p:sp>
        <p:nvSpPr>
          <p:cNvPr id="6" name="Text 4"/>
          <p:cNvSpPr/>
          <p:nvPr/>
        </p:nvSpPr>
        <p:spPr>
          <a:xfrm>
            <a:off x="7614761" y="3786902"/>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Pro" pitchFamily="34" charset="0"/>
                <a:ea typeface="Source Sans Pro" pitchFamily="34" charset="-122"/>
                <a:cs typeface="Source Sans Pro" pitchFamily="34" charset="-120"/>
              </a:rPr>
              <a:t>CO₂ (Carbon Dioxide):</a:t>
            </a:r>
            <a:r>
              <a:rPr lang="en-US" sz="1850" dirty="0">
                <a:solidFill>
                  <a:srgbClr val="D6E5EF"/>
                </a:solidFill>
                <a:latin typeface="Source Sans Pro" pitchFamily="34" charset="0"/>
                <a:ea typeface="Source Sans Pro" pitchFamily="34" charset="-122"/>
                <a:cs typeface="Source Sans Pro" pitchFamily="34" charset="-120"/>
              </a:rPr>
              <a:t> A greenhouse gas that contributes to climate change.</a:t>
            </a:r>
            <a:endParaRPr lang="en-US" sz="1850" dirty="0"/>
          </a:p>
        </p:txBody>
      </p:sp>
      <p:sp>
        <p:nvSpPr>
          <p:cNvPr id="7" name="Text 5"/>
          <p:cNvSpPr/>
          <p:nvPr/>
        </p:nvSpPr>
        <p:spPr>
          <a:xfrm>
            <a:off x="7614761" y="4636651"/>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Pro" pitchFamily="34" charset="0"/>
                <a:ea typeface="Source Sans Pro" pitchFamily="34" charset="-122"/>
                <a:cs typeface="Source Sans Pro" pitchFamily="34" charset="-120"/>
              </a:rPr>
              <a:t>NH₃ (Ammonia):</a:t>
            </a:r>
            <a:r>
              <a:rPr lang="en-US" sz="1850" dirty="0">
                <a:solidFill>
                  <a:srgbClr val="D6E5EF"/>
                </a:solidFill>
                <a:latin typeface="Source Sans Pro" pitchFamily="34" charset="0"/>
                <a:ea typeface="Source Sans Pro" pitchFamily="34" charset="-122"/>
                <a:cs typeface="Source Sans Pro" pitchFamily="34" charset="-120"/>
              </a:rPr>
              <a:t> Contributes to the formation of particulate matter.</a:t>
            </a:r>
            <a:endParaRPr lang="en-US" sz="1850" dirty="0"/>
          </a:p>
        </p:txBody>
      </p:sp>
      <p:sp>
        <p:nvSpPr>
          <p:cNvPr id="8" name="Text 6"/>
          <p:cNvSpPr/>
          <p:nvPr/>
        </p:nvSpPr>
        <p:spPr>
          <a:xfrm>
            <a:off x="7614761" y="5486400"/>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Pro" pitchFamily="34" charset="0"/>
                <a:ea typeface="Source Sans Pro" pitchFamily="34" charset="-122"/>
                <a:cs typeface="Source Sans Pro" pitchFamily="34" charset="-120"/>
              </a:rPr>
              <a:t>Toluene:</a:t>
            </a:r>
            <a:r>
              <a:rPr lang="en-US" sz="1850" dirty="0">
                <a:solidFill>
                  <a:srgbClr val="D6E5EF"/>
                </a:solidFill>
                <a:latin typeface="Source Sans Pro" pitchFamily="34" charset="0"/>
                <a:ea typeface="Source Sans Pro" pitchFamily="34" charset="-122"/>
                <a:cs typeface="Source Sans Pro" pitchFamily="34" charset="-120"/>
              </a:rPr>
              <a:t> A volatile organic compound (VOC) that can cause respiratory issues.</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78378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Project Objectives</a:t>
            </a:r>
            <a:endParaRPr lang="en-US" sz="4400" dirty="0"/>
          </a:p>
        </p:txBody>
      </p:sp>
      <p:sp>
        <p:nvSpPr>
          <p:cNvPr id="4" name="Shape 1"/>
          <p:cNvSpPr/>
          <p:nvPr/>
        </p:nvSpPr>
        <p:spPr>
          <a:xfrm>
            <a:off x="6324124" y="2115979"/>
            <a:ext cx="538520" cy="538520"/>
          </a:xfrm>
          <a:prstGeom prst="roundRect">
            <a:avLst>
              <a:gd name="adj" fmla="val 6668"/>
            </a:avLst>
          </a:prstGeom>
          <a:solidFill>
            <a:srgbClr val="444752"/>
          </a:solidFill>
          <a:ln/>
        </p:spPr>
        <p:txBody>
          <a:bodyPr/>
          <a:lstStyle/>
          <a:p>
            <a:endParaRPr lang="en-IN"/>
          </a:p>
        </p:txBody>
      </p:sp>
      <p:sp>
        <p:nvSpPr>
          <p:cNvPr id="5" name="Text 2"/>
          <p:cNvSpPr/>
          <p:nvPr/>
        </p:nvSpPr>
        <p:spPr>
          <a:xfrm>
            <a:off x="6424374" y="2173962"/>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Lora" pitchFamily="34" charset="0"/>
                <a:ea typeface="Lora" pitchFamily="34" charset="-122"/>
                <a:cs typeface="Lora" pitchFamily="34" charset="-120"/>
              </a:rPr>
              <a:t>1</a:t>
            </a:r>
            <a:endParaRPr lang="en-US" sz="2650" dirty="0"/>
          </a:p>
        </p:txBody>
      </p:sp>
      <p:sp>
        <p:nvSpPr>
          <p:cNvPr id="6" name="Text 3"/>
          <p:cNvSpPr/>
          <p:nvPr/>
        </p:nvSpPr>
        <p:spPr>
          <a:xfrm>
            <a:off x="7101959" y="2115979"/>
            <a:ext cx="2836783" cy="703898"/>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Real-time AQI Monitor</a:t>
            </a:r>
            <a:endParaRPr lang="en-US" sz="2200" dirty="0"/>
          </a:p>
        </p:txBody>
      </p:sp>
      <p:sp>
        <p:nvSpPr>
          <p:cNvPr id="7" name="Text 4"/>
          <p:cNvSpPr/>
          <p:nvPr/>
        </p:nvSpPr>
        <p:spPr>
          <a:xfrm>
            <a:off x="7101959" y="2963466"/>
            <a:ext cx="2836783" cy="2298144"/>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Construct a system that provides real-time monitoring of air quality using an Arduino Uno microcontroller and a MQ135 gas sensor.</a:t>
            </a:r>
            <a:endParaRPr lang="en-US" sz="1850" dirty="0"/>
          </a:p>
        </p:txBody>
      </p:sp>
      <p:sp>
        <p:nvSpPr>
          <p:cNvPr id="8" name="Shape 5"/>
          <p:cNvSpPr/>
          <p:nvPr/>
        </p:nvSpPr>
        <p:spPr>
          <a:xfrm>
            <a:off x="10178058" y="2115979"/>
            <a:ext cx="538520" cy="538520"/>
          </a:xfrm>
          <a:prstGeom prst="roundRect">
            <a:avLst>
              <a:gd name="adj" fmla="val 6668"/>
            </a:avLst>
          </a:prstGeom>
          <a:solidFill>
            <a:srgbClr val="444752"/>
          </a:solidFill>
          <a:ln/>
        </p:spPr>
        <p:txBody>
          <a:bodyPr/>
          <a:lstStyle/>
          <a:p>
            <a:endParaRPr lang="en-IN"/>
          </a:p>
        </p:txBody>
      </p:sp>
      <p:sp>
        <p:nvSpPr>
          <p:cNvPr id="9" name="Text 6"/>
          <p:cNvSpPr/>
          <p:nvPr/>
        </p:nvSpPr>
        <p:spPr>
          <a:xfrm>
            <a:off x="10278308" y="2173962"/>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Lora" pitchFamily="34" charset="0"/>
                <a:ea typeface="Lora" pitchFamily="34" charset="-122"/>
                <a:cs typeface="Lora" pitchFamily="34" charset="-120"/>
              </a:rPr>
              <a:t>2</a:t>
            </a:r>
            <a:endParaRPr lang="en-US" sz="2650" dirty="0"/>
          </a:p>
        </p:txBody>
      </p:sp>
      <p:sp>
        <p:nvSpPr>
          <p:cNvPr id="10" name="Text 7"/>
          <p:cNvSpPr/>
          <p:nvPr/>
        </p:nvSpPr>
        <p:spPr>
          <a:xfrm>
            <a:off x="10955893" y="211597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Data Visualization</a:t>
            </a:r>
            <a:endParaRPr lang="en-US" sz="2200" dirty="0"/>
          </a:p>
        </p:txBody>
      </p:sp>
      <p:sp>
        <p:nvSpPr>
          <p:cNvPr id="11" name="Text 8"/>
          <p:cNvSpPr/>
          <p:nvPr/>
        </p:nvSpPr>
        <p:spPr>
          <a:xfrm>
            <a:off x="10955893" y="2611517"/>
            <a:ext cx="2836783" cy="268116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Develop a Python script to graphically display the AQI data, CO2, NH3 and Toluene levels gathered by the MQ135 sensor, providing visual insights into air quality fluctuations.</a:t>
            </a:r>
            <a:endParaRPr lang="en-US" sz="1850" dirty="0"/>
          </a:p>
        </p:txBody>
      </p:sp>
      <p:sp>
        <p:nvSpPr>
          <p:cNvPr id="12" name="Shape 9"/>
          <p:cNvSpPr/>
          <p:nvPr/>
        </p:nvSpPr>
        <p:spPr>
          <a:xfrm>
            <a:off x="6324124" y="5801201"/>
            <a:ext cx="538520" cy="538520"/>
          </a:xfrm>
          <a:prstGeom prst="roundRect">
            <a:avLst>
              <a:gd name="adj" fmla="val 6668"/>
            </a:avLst>
          </a:prstGeom>
          <a:solidFill>
            <a:srgbClr val="444752"/>
          </a:solidFill>
          <a:ln/>
        </p:spPr>
        <p:txBody>
          <a:bodyPr/>
          <a:lstStyle/>
          <a:p>
            <a:endParaRPr lang="en-IN"/>
          </a:p>
        </p:txBody>
      </p:sp>
      <p:sp>
        <p:nvSpPr>
          <p:cNvPr id="13" name="Text 10"/>
          <p:cNvSpPr/>
          <p:nvPr/>
        </p:nvSpPr>
        <p:spPr>
          <a:xfrm>
            <a:off x="6424374" y="5859185"/>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Lora" pitchFamily="34" charset="0"/>
                <a:ea typeface="Lora" pitchFamily="34" charset="-122"/>
                <a:cs typeface="Lora" pitchFamily="34" charset="-120"/>
              </a:rPr>
              <a:t>3</a:t>
            </a:r>
            <a:endParaRPr lang="en-US" sz="2650" dirty="0"/>
          </a:p>
        </p:txBody>
      </p:sp>
      <p:sp>
        <p:nvSpPr>
          <p:cNvPr id="14" name="Text 11"/>
          <p:cNvSpPr/>
          <p:nvPr/>
        </p:nvSpPr>
        <p:spPr>
          <a:xfrm>
            <a:off x="7101959" y="580120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LCD Display</a:t>
            </a:r>
            <a:endParaRPr lang="en-US" sz="2200" dirty="0"/>
          </a:p>
        </p:txBody>
      </p:sp>
      <p:sp>
        <p:nvSpPr>
          <p:cNvPr id="15" name="Text 12"/>
          <p:cNvSpPr/>
          <p:nvPr/>
        </p:nvSpPr>
        <p:spPr>
          <a:xfrm>
            <a:off x="7101959" y="6296739"/>
            <a:ext cx="6690717"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Implement a 16x2 LCD to show the real-time Air Quality Index (AQI) for immediate on-site readings and easy access to the information being collected.</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443" y="539948"/>
            <a:ext cx="4608314" cy="576024"/>
          </a:xfrm>
          <a:prstGeom prst="rect">
            <a:avLst/>
          </a:prstGeom>
          <a:noFill/>
          <a:ln/>
        </p:spPr>
        <p:txBody>
          <a:bodyPr wrap="none" lIns="0" tIns="0" rIns="0" bIns="0" rtlCol="0" anchor="t"/>
          <a:lstStyle/>
          <a:p>
            <a:pPr marL="0" indent="0" algn="l">
              <a:lnSpc>
                <a:spcPts val="4500"/>
              </a:lnSpc>
              <a:buNone/>
            </a:pPr>
            <a:r>
              <a:rPr lang="en-US" sz="3600" dirty="0">
                <a:solidFill>
                  <a:srgbClr val="F98AC7"/>
                </a:solidFill>
                <a:latin typeface="Lora" pitchFamily="34" charset="0"/>
                <a:ea typeface="Lora" pitchFamily="34" charset="-122"/>
                <a:cs typeface="Lora" pitchFamily="34" charset="-120"/>
              </a:rPr>
              <a:t>Literature Survey</a:t>
            </a:r>
            <a:endParaRPr lang="en-US" sz="3600" dirty="0"/>
          </a:p>
        </p:txBody>
      </p:sp>
      <p:sp>
        <p:nvSpPr>
          <p:cNvPr id="3" name="Text 1"/>
          <p:cNvSpPr/>
          <p:nvPr/>
        </p:nvSpPr>
        <p:spPr>
          <a:xfrm>
            <a:off x="685443" y="1409700"/>
            <a:ext cx="7013972" cy="345519"/>
          </a:xfrm>
          <a:prstGeom prst="rect">
            <a:avLst/>
          </a:prstGeom>
          <a:noFill/>
          <a:ln/>
        </p:spPr>
        <p:txBody>
          <a:bodyPr wrap="none" lIns="0" tIns="0" rIns="0" bIns="0" rtlCol="0" anchor="t"/>
          <a:lstStyle/>
          <a:p>
            <a:pPr marL="0" indent="0" algn="l">
              <a:lnSpc>
                <a:spcPts val="2700"/>
              </a:lnSpc>
              <a:buNone/>
            </a:pPr>
            <a:r>
              <a:rPr lang="en-US" sz="2150" b="1" dirty="0">
                <a:solidFill>
                  <a:srgbClr val="F98AC7"/>
                </a:solidFill>
                <a:latin typeface="Lora" pitchFamily="34" charset="0"/>
                <a:ea typeface="Lora" pitchFamily="34" charset="-122"/>
                <a:cs typeface="Lora" pitchFamily="34" charset="-120"/>
              </a:rPr>
              <a:t>1. Arduino-Based Environmental Monitoring Systems</a:t>
            </a:r>
            <a:endParaRPr lang="en-US" sz="2150" dirty="0"/>
          </a:p>
        </p:txBody>
      </p:sp>
      <p:sp>
        <p:nvSpPr>
          <p:cNvPr id="4" name="Text 2"/>
          <p:cNvSpPr/>
          <p:nvPr/>
        </p:nvSpPr>
        <p:spPr>
          <a:xfrm>
            <a:off x="685443" y="2048947"/>
            <a:ext cx="13259514" cy="5640705"/>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latin typeface="Source Sans Pro" pitchFamily="34" charset="0"/>
                <a:ea typeface="Source Sans Pro" pitchFamily="34" charset="-122"/>
                <a:cs typeface="Source Sans Pro" pitchFamily="34" charset="-120"/>
              </a:rPr>
              <a:t>
</a:t>
            </a:r>
            <a:r>
              <a:rPr lang="en-US" sz="1500" b="1" dirty="0">
                <a:solidFill>
                  <a:srgbClr val="D6E5EF"/>
                </a:solidFill>
                <a:latin typeface="Source Sans Pro" pitchFamily="34" charset="0"/>
                <a:ea typeface="Source Sans Pro" pitchFamily="34" charset="-122"/>
                <a:cs typeface="Source Sans Pro" pitchFamily="34" charset="-120"/>
              </a:rPr>
              <a:t>Purpose of Study:</a:t>
            </a:r>
            <a:r>
              <a:rPr lang="en-US" sz="1500" dirty="0">
                <a:solidFill>
                  <a:srgbClr val="D6E5EF"/>
                </a:solidFill>
                <a:latin typeface="Source Sans Pro" pitchFamily="34" charset="0"/>
                <a:ea typeface="Source Sans Pro" pitchFamily="34" charset="-122"/>
                <a:cs typeface="Source Sans Pro" pitchFamily="34" charset="-120"/>
              </a:rPr>
              <a:t>
The studies by Kurniawan et al. (2018) and Patel et al. (2019) highlight the growing use of Arduino
microcontrollers in developing cost-effective and efficient environmental monitoring systems. These
systems are designed to track parameters such as air quality, temperature, and humidity in real time.
</a:t>
            </a:r>
            <a:r>
              <a:rPr lang="en-US" sz="1500" b="1" dirty="0">
                <a:solidFill>
                  <a:srgbClr val="D6E5EF"/>
                </a:solidFill>
                <a:latin typeface="Source Sans Pro" pitchFamily="34" charset="0"/>
                <a:ea typeface="Source Sans Pro" pitchFamily="34" charset="-122"/>
                <a:cs typeface="Source Sans Pro" pitchFamily="34" charset="-120"/>
              </a:rPr>
              <a:t>Method Used:</a:t>
            </a:r>
            <a:r>
              <a:rPr lang="en-US" sz="1500" dirty="0">
                <a:solidFill>
                  <a:srgbClr val="D6E5EF"/>
                </a:solidFill>
                <a:latin typeface="Source Sans Pro" pitchFamily="34" charset="0"/>
                <a:ea typeface="Source Sans Pro" pitchFamily="34" charset="-122"/>
                <a:cs typeface="Source Sans Pro" pitchFamily="34" charset="-120"/>
              </a:rPr>
              <a:t>
Arduino microcontrollers serve as the core of these systems, interfacing with various sensors, including
gas, temperature, and humidity sensors. The collected data is processed in real time and displayed on
user interfaces, such as LCDs, or transmitted wirelessly via Bluetooth or Wi-Fi for remote monitoring.
</a:t>
            </a:r>
            <a:r>
              <a:rPr lang="en-US" sz="1500" b="1" dirty="0">
                <a:solidFill>
                  <a:srgbClr val="D6E5EF"/>
                </a:solidFill>
                <a:latin typeface="Source Sans Pro" pitchFamily="34" charset="0"/>
                <a:ea typeface="Source Sans Pro" pitchFamily="34" charset="-122"/>
                <a:cs typeface="Source Sans Pro" pitchFamily="34" charset="-120"/>
              </a:rPr>
              <a:t>Key Findings and Results:</a:t>
            </a:r>
            <a:r>
              <a:rPr lang="en-US" sz="1500" dirty="0">
                <a:solidFill>
                  <a:srgbClr val="D6E5EF"/>
                </a:solidFill>
                <a:latin typeface="Source Sans Pro" pitchFamily="34" charset="0"/>
                <a:ea typeface="Source Sans Pro" pitchFamily="34" charset="-122"/>
                <a:cs typeface="Source Sans Pro" pitchFamily="34" charset="-120"/>
              </a:rPr>
              <a:t>
The studies demonstrate that Arduino-based systems are highly reliable and scalable, offering flexibility
in customizing sensor configurations for specific applications. Their affordability and ease of
programming make them accessible to a wide range of users, including researchers, hobbyists, and
small-scale industries.
</a:t>
            </a:r>
            <a:r>
              <a:rPr lang="en-US" sz="1500" b="1" dirty="0">
                <a:solidFill>
                  <a:srgbClr val="D6E5EF"/>
                </a:solidFill>
                <a:latin typeface="Source Sans Pro" pitchFamily="34" charset="0"/>
                <a:ea typeface="Source Sans Pro" pitchFamily="34" charset="-122"/>
                <a:cs typeface="Source Sans Pro" pitchFamily="34" charset="-120"/>
              </a:rPr>
              <a:t>Conclusion:</a:t>
            </a:r>
            <a:r>
              <a:rPr lang="en-US" sz="1500" dirty="0">
                <a:solidFill>
                  <a:srgbClr val="D6E5EF"/>
                </a:solidFill>
                <a:latin typeface="Source Sans Pro" pitchFamily="34" charset="0"/>
                <a:ea typeface="Source Sans Pro" pitchFamily="34" charset="-122"/>
                <a:cs typeface="Source Sans Pro" pitchFamily="34" charset="-120"/>
              </a:rPr>
              <a:t>
Arduino platforms have revolutionized environmental monitoring by providing accessible, scalable, and
customizable solutions. They enable widespread adoption of air quality monitoring technologies in both
developed and developing regions.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2474" y="583287"/>
            <a:ext cx="4991695" cy="624007"/>
          </a:xfrm>
          <a:prstGeom prst="rect">
            <a:avLst/>
          </a:prstGeom>
          <a:noFill/>
          <a:ln/>
        </p:spPr>
        <p:txBody>
          <a:bodyPr wrap="none" lIns="0" tIns="0" rIns="0" bIns="0" rtlCol="0" anchor="t"/>
          <a:lstStyle/>
          <a:p>
            <a:pPr marL="0" indent="0" algn="l">
              <a:lnSpc>
                <a:spcPts val="4900"/>
              </a:lnSpc>
              <a:buNone/>
            </a:pPr>
            <a:endParaRPr lang="en-US" sz="3900" dirty="0"/>
          </a:p>
        </p:txBody>
      </p:sp>
      <p:sp>
        <p:nvSpPr>
          <p:cNvPr id="3" name="Text 1"/>
          <p:cNvSpPr/>
          <p:nvPr/>
        </p:nvSpPr>
        <p:spPr>
          <a:xfrm>
            <a:off x="742474" y="1525429"/>
            <a:ext cx="5911096" cy="374452"/>
          </a:xfrm>
          <a:prstGeom prst="rect">
            <a:avLst/>
          </a:prstGeom>
          <a:noFill/>
          <a:ln/>
        </p:spPr>
        <p:txBody>
          <a:bodyPr wrap="none" lIns="0" tIns="0" rIns="0" bIns="0" rtlCol="0" anchor="t"/>
          <a:lstStyle/>
          <a:p>
            <a:pPr marL="0" indent="0" algn="l">
              <a:lnSpc>
                <a:spcPts val="2900"/>
              </a:lnSpc>
              <a:buNone/>
            </a:pPr>
            <a:r>
              <a:rPr lang="en-US" sz="2350" b="1" dirty="0">
                <a:solidFill>
                  <a:srgbClr val="F98AC7"/>
                </a:solidFill>
                <a:latin typeface="Lora" pitchFamily="34" charset="0"/>
                <a:ea typeface="Lora" pitchFamily="34" charset="-122"/>
                <a:cs typeface="Lora" pitchFamily="34" charset="-120"/>
              </a:rPr>
              <a:t>2. Gas Sensors for Air Quality Monitoring</a:t>
            </a:r>
            <a:endParaRPr lang="en-US" sz="2350" dirty="0"/>
          </a:p>
        </p:txBody>
      </p:sp>
      <p:sp>
        <p:nvSpPr>
          <p:cNvPr id="4" name="Text 2"/>
          <p:cNvSpPr/>
          <p:nvPr/>
        </p:nvSpPr>
        <p:spPr>
          <a:xfrm>
            <a:off x="742474" y="2218015"/>
            <a:ext cx="13145453" cy="5431155"/>
          </a:xfrm>
          <a:prstGeom prst="rect">
            <a:avLst/>
          </a:prstGeom>
          <a:noFill/>
          <a:ln/>
        </p:spPr>
        <p:txBody>
          <a:bodyPr wrap="square" lIns="0" tIns="0" rIns="0" bIns="0" rtlCol="0" anchor="t"/>
          <a:lstStyle/>
          <a:p>
            <a:pPr marL="0" indent="0" algn="l">
              <a:lnSpc>
                <a:spcPts val="2650"/>
              </a:lnSpc>
              <a:buNone/>
            </a:pPr>
            <a:r>
              <a:rPr lang="en-US" sz="1650" dirty="0">
                <a:solidFill>
                  <a:srgbClr val="D6E5EF"/>
                </a:solidFill>
                <a:latin typeface="Source Sans Pro" pitchFamily="34" charset="0"/>
                <a:ea typeface="Source Sans Pro" pitchFamily="34" charset="-122"/>
                <a:cs typeface="Source Sans Pro" pitchFamily="34" charset="-120"/>
              </a:rPr>
              <a:t>
</a:t>
            </a:r>
            <a:r>
              <a:rPr lang="en-US" sz="1650" b="1" dirty="0">
                <a:solidFill>
                  <a:srgbClr val="D6E5EF"/>
                </a:solidFill>
                <a:latin typeface="Source Sans Pro" pitchFamily="34" charset="0"/>
                <a:ea typeface="Source Sans Pro" pitchFamily="34" charset="-122"/>
                <a:cs typeface="Source Sans Pro" pitchFamily="34" charset="-120"/>
              </a:rPr>
              <a:t>Purpose of Study:</a:t>
            </a:r>
            <a:r>
              <a:rPr lang="en-US" sz="1650" dirty="0">
                <a:solidFill>
                  <a:srgbClr val="D6E5EF"/>
                </a:solidFill>
                <a:latin typeface="Source Sans Pro" pitchFamily="34" charset="0"/>
                <a:ea typeface="Source Sans Pro" pitchFamily="34" charset="-122"/>
                <a:cs typeface="Source Sans Pro" pitchFamily="34" charset="-120"/>
              </a:rPr>
              <a:t>
Cheng et al. (2016) and Dey (2018) focus on the role of gas sensors in air quality monitoring,
specifically examining the performance of the MQ-135 sensor. This sensor is widely used for detecting
harmful gases such as carbon dioxide (CO2), ammonia (NH3), nitrogen oxides (NOx), and benzene.
</a:t>
            </a:r>
            <a:r>
              <a:rPr lang="en-US" sz="1650" b="1" dirty="0">
                <a:solidFill>
                  <a:srgbClr val="D6E5EF"/>
                </a:solidFill>
                <a:latin typeface="Source Sans Pro" pitchFamily="34" charset="0"/>
                <a:ea typeface="Source Sans Pro" pitchFamily="34" charset="-122"/>
                <a:cs typeface="Source Sans Pro" pitchFamily="34" charset="-120"/>
              </a:rPr>
              <a:t>Method Used:</a:t>
            </a:r>
            <a:r>
              <a:rPr lang="en-US" sz="1650" dirty="0">
                <a:solidFill>
                  <a:srgbClr val="D6E5EF"/>
                </a:solidFill>
                <a:latin typeface="Source Sans Pro" pitchFamily="34" charset="0"/>
                <a:ea typeface="Source Sans Pro" pitchFamily="34" charset="-122"/>
                <a:cs typeface="Source Sans Pro" pitchFamily="34" charset="-120"/>
              </a:rPr>
              <a:t>
The MQ-135 sensor uses metal-oxide semiconductor (MOS) technology to measure gas concentrations
by detecting changes in electrical resistance. It is calibrated to provide accurate readings under varying
environmental conditions.
</a:t>
            </a:r>
            <a:r>
              <a:rPr lang="en-US" sz="1650" b="1" dirty="0">
                <a:solidFill>
                  <a:srgbClr val="D6E5EF"/>
                </a:solidFill>
                <a:latin typeface="Source Sans Pro" pitchFamily="34" charset="0"/>
                <a:ea typeface="Source Sans Pro" pitchFamily="34" charset="-122"/>
                <a:cs typeface="Source Sans Pro" pitchFamily="34" charset="-120"/>
              </a:rPr>
              <a:t>Key Findings and Results:</a:t>
            </a:r>
            <a:r>
              <a:rPr lang="en-US" sz="1650" dirty="0">
                <a:solidFill>
                  <a:srgbClr val="D6E5EF"/>
                </a:solidFill>
                <a:latin typeface="Source Sans Pro" pitchFamily="34" charset="0"/>
                <a:ea typeface="Source Sans Pro" pitchFamily="34" charset="-122"/>
                <a:cs typeface="Source Sans Pro" pitchFamily="34" charset="-120"/>
              </a:rPr>
              <a:t>
The studies highlight the MQ-135 sensor’s high sensitivity and versatility, making it suitable for multi-
gas detection in indoor and outdoor environments. However, the sensor's accuracy can be affected by
factors such as temperature and humidity, necessitating periodic calibration for optimal performance.
</a:t>
            </a:r>
            <a:r>
              <a:rPr lang="en-US" sz="1650" b="1" dirty="0">
                <a:solidFill>
                  <a:srgbClr val="D6E5EF"/>
                </a:solidFill>
                <a:latin typeface="Source Sans Pro" pitchFamily="34" charset="0"/>
                <a:ea typeface="Source Sans Pro" pitchFamily="34" charset="-122"/>
                <a:cs typeface="Source Sans Pro" pitchFamily="34" charset="-120"/>
              </a:rPr>
              <a:t>Conclusion:</a:t>
            </a:r>
            <a:r>
              <a:rPr lang="en-US" sz="1650" dirty="0">
                <a:solidFill>
                  <a:srgbClr val="D6E5EF"/>
                </a:solidFill>
                <a:latin typeface="Source Sans Pro" pitchFamily="34" charset="0"/>
                <a:ea typeface="Source Sans Pro" pitchFamily="34" charset="-122"/>
                <a:cs typeface="Source Sans Pro" pitchFamily="34" charset="-120"/>
              </a:rPr>
              <a:t>
The MQ-135 is a reliable and cost-effective sensor for air quality monitoring, capable of detecting a
wide range of pollutants with high sensitivity.</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2946" y="560189"/>
            <a:ext cx="4793575" cy="599123"/>
          </a:xfrm>
          <a:prstGeom prst="rect">
            <a:avLst/>
          </a:prstGeom>
          <a:noFill/>
          <a:ln/>
        </p:spPr>
        <p:txBody>
          <a:bodyPr wrap="none" lIns="0" tIns="0" rIns="0" bIns="0" rtlCol="0" anchor="t"/>
          <a:lstStyle/>
          <a:p>
            <a:pPr marL="0" indent="0" algn="l">
              <a:lnSpc>
                <a:spcPts val="4700"/>
              </a:lnSpc>
              <a:buNone/>
            </a:pPr>
            <a:endParaRPr lang="en-US" sz="3750" dirty="0"/>
          </a:p>
        </p:txBody>
      </p:sp>
      <p:sp>
        <p:nvSpPr>
          <p:cNvPr id="3" name="Text 1"/>
          <p:cNvSpPr/>
          <p:nvPr/>
        </p:nvSpPr>
        <p:spPr>
          <a:xfrm>
            <a:off x="712946" y="1464826"/>
            <a:ext cx="6522839" cy="359569"/>
          </a:xfrm>
          <a:prstGeom prst="rect">
            <a:avLst/>
          </a:prstGeom>
          <a:noFill/>
          <a:ln/>
        </p:spPr>
        <p:txBody>
          <a:bodyPr wrap="none" lIns="0" tIns="0" rIns="0" bIns="0" rtlCol="0" anchor="t"/>
          <a:lstStyle/>
          <a:p>
            <a:pPr marL="0" indent="0" algn="l">
              <a:lnSpc>
                <a:spcPts val="2800"/>
              </a:lnSpc>
              <a:buNone/>
            </a:pPr>
            <a:r>
              <a:rPr lang="en-US" sz="2250" b="1" dirty="0">
                <a:solidFill>
                  <a:srgbClr val="F98AC7"/>
                </a:solidFill>
                <a:latin typeface="Lora" pitchFamily="34" charset="0"/>
                <a:ea typeface="Lora" pitchFamily="34" charset="-122"/>
                <a:cs typeface="Lora" pitchFamily="34" charset="-120"/>
              </a:rPr>
              <a:t>3. Air Quality Index (AQI) Calculation Standards</a:t>
            </a:r>
            <a:endParaRPr lang="en-US" sz="2250" dirty="0"/>
          </a:p>
        </p:txBody>
      </p:sp>
      <p:sp>
        <p:nvSpPr>
          <p:cNvPr id="4" name="Text 2"/>
          <p:cNvSpPr/>
          <p:nvPr/>
        </p:nvSpPr>
        <p:spPr>
          <a:xfrm>
            <a:off x="712946" y="2129909"/>
            <a:ext cx="13204508" cy="5539859"/>
          </a:xfrm>
          <a:prstGeom prst="rect">
            <a:avLst/>
          </a:prstGeom>
          <a:noFill/>
          <a:ln/>
        </p:spPr>
        <p:txBody>
          <a:bodyPr wrap="square" lIns="0" tIns="0" rIns="0" bIns="0" rtlCol="0" anchor="t"/>
          <a:lstStyle/>
          <a:p>
            <a:pPr marL="0" indent="0" algn="l">
              <a:lnSpc>
                <a:spcPts val="2550"/>
              </a:lnSpc>
              <a:buNone/>
            </a:pPr>
            <a:r>
              <a:rPr lang="en-US" sz="1600" dirty="0">
                <a:solidFill>
                  <a:srgbClr val="D6E5EF"/>
                </a:solidFill>
                <a:latin typeface="Source Sans Pro" pitchFamily="34" charset="0"/>
                <a:ea typeface="Source Sans Pro" pitchFamily="34" charset="-122"/>
                <a:cs typeface="Source Sans Pro" pitchFamily="34" charset="-120"/>
              </a:rPr>
              <a:t>
</a:t>
            </a:r>
            <a:r>
              <a:rPr lang="en-US" sz="1600" b="1" dirty="0">
                <a:solidFill>
                  <a:srgbClr val="D6E5EF"/>
                </a:solidFill>
                <a:latin typeface="Source Sans Pro" pitchFamily="34" charset="0"/>
                <a:ea typeface="Source Sans Pro" pitchFamily="34" charset="-122"/>
                <a:cs typeface="Source Sans Pro" pitchFamily="34" charset="-120"/>
              </a:rPr>
              <a:t>Purpose of Study:</a:t>
            </a:r>
            <a:r>
              <a:rPr lang="en-US" sz="1600" dirty="0">
                <a:solidFill>
                  <a:srgbClr val="D6E5EF"/>
                </a:solidFill>
                <a:latin typeface="Source Sans Pro" pitchFamily="34" charset="0"/>
                <a:ea typeface="Source Sans Pro" pitchFamily="34" charset="-122"/>
                <a:cs typeface="Source Sans Pro" pitchFamily="34" charset="-120"/>
              </a:rPr>
              <a:t>
Research by Kumar et al. (2017) and Gupta et al. (2020) focuses on standardized methodologies for
calculating the Air Quality Index (AQI). The AQI provides a simplified, easy-to-understand
representation of air pollution levels, helping individuals assess environmental health risks.
</a:t>
            </a:r>
            <a:r>
              <a:rPr lang="en-US" sz="1600" b="1" dirty="0">
                <a:solidFill>
                  <a:srgbClr val="D6E5EF"/>
                </a:solidFill>
                <a:latin typeface="Source Sans Pro" pitchFamily="34" charset="0"/>
                <a:ea typeface="Source Sans Pro" pitchFamily="34" charset="-122"/>
                <a:cs typeface="Source Sans Pro" pitchFamily="34" charset="-120"/>
              </a:rPr>
              <a:t>Method Used:</a:t>
            </a:r>
            <a:r>
              <a:rPr lang="en-US" sz="1600" dirty="0">
                <a:solidFill>
                  <a:srgbClr val="D6E5EF"/>
                </a:solidFill>
                <a:latin typeface="Source Sans Pro" pitchFamily="34" charset="0"/>
                <a:ea typeface="Source Sans Pro" pitchFamily="34" charset="-122"/>
                <a:cs typeface="Source Sans Pro" pitchFamily="34" charset="-120"/>
              </a:rPr>
              <a:t>
The studies detail how AQI values are calculated based on pollutant concentrations and breakpointvalues defined by agencies such as the U.S. Environmental Protection Agency (EPA) and the World
Health Organization (WHO). These breakpoints categorize AQI into ranges (e.g., Good, Moderate,
Unhealthy) to convey health implications clearly.
</a:t>
            </a:r>
            <a:r>
              <a:rPr lang="en-US" sz="1600" b="1" dirty="0">
                <a:solidFill>
                  <a:srgbClr val="D6E5EF"/>
                </a:solidFill>
                <a:latin typeface="Source Sans Pro" pitchFamily="34" charset="0"/>
                <a:ea typeface="Source Sans Pro" pitchFamily="34" charset="-122"/>
                <a:cs typeface="Source Sans Pro" pitchFamily="34" charset="-120"/>
              </a:rPr>
              <a:t>Key Findings and Results:</a:t>
            </a:r>
            <a:r>
              <a:rPr lang="en-US" sz="1600" dirty="0">
                <a:solidFill>
                  <a:srgbClr val="D6E5EF"/>
                </a:solidFill>
                <a:latin typeface="Source Sans Pro" pitchFamily="34" charset="0"/>
                <a:ea typeface="Source Sans Pro" pitchFamily="34" charset="-122"/>
                <a:cs typeface="Source Sans Pro" pitchFamily="34" charset="-120"/>
              </a:rPr>
              <a:t>
The AQI framework effectively translates complex air quality data into actionable information,
promoting public awareness and enabling informed decision-making regarding outdoor activities and
health precautions.
</a:t>
            </a:r>
            <a:r>
              <a:rPr lang="en-US" sz="1600" b="1" dirty="0">
                <a:solidFill>
                  <a:srgbClr val="D6E5EF"/>
                </a:solidFill>
                <a:latin typeface="Source Sans Pro" pitchFamily="34" charset="0"/>
                <a:ea typeface="Source Sans Pro" pitchFamily="34" charset="-122"/>
                <a:cs typeface="Source Sans Pro" pitchFamily="34" charset="-120"/>
              </a:rPr>
              <a:t>Conclusion:</a:t>
            </a:r>
            <a:r>
              <a:rPr lang="en-US" sz="1600" dirty="0">
                <a:solidFill>
                  <a:srgbClr val="D6E5EF"/>
                </a:solidFill>
                <a:latin typeface="Source Sans Pro" pitchFamily="34" charset="0"/>
                <a:ea typeface="Source Sans Pro" pitchFamily="34" charset="-122"/>
                <a:cs typeface="Source Sans Pro" pitchFamily="34" charset="-120"/>
              </a:rPr>
              <a:t>
The AQI has proven to be an essential tool for public communication, enabling effective dissemination
of air quality information to a broad audience.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2474" y="583287"/>
            <a:ext cx="4991695" cy="624007"/>
          </a:xfrm>
          <a:prstGeom prst="rect">
            <a:avLst/>
          </a:prstGeom>
          <a:noFill/>
          <a:ln/>
        </p:spPr>
        <p:txBody>
          <a:bodyPr wrap="none" lIns="0" tIns="0" rIns="0" bIns="0" rtlCol="0" anchor="t"/>
          <a:lstStyle/>
          <a:p>
            <a:pPr marL="0" indent="0" algn="l">
              <a:lnSpc>
                <a:spcPts val="4900"/>
              </a:lnSpc>
              <a:buNone/>
            </a:pPr>
            <a:endParaRPr lang="en-US" sz="3900" dirty="0"/>
          </a:p>
        </p:txBody>
      </p:sp>
      <p:sp>
        <p:nvSpPr>
          <p:cNvPr id="3" name="Text 1"/>
          <p:cNvSpPr/>
          <p:nvPr/>
        </p:nvSpPr>
        <p:spPr>
          <a:xfrm>
            <a:off x="742474" y="1525429"/>
            <a:ext cx="6564392" cy="374452"/>
          </a:xfrm>
          <a:prstGeom prst="rect">
            <a:avLst/>
          </a:prstGeom>
          <a:noFill/>
          <a:ln/>
        </p:spPr>
        <p:txBody>
          <a:bodyPr wrap="none" lIns="0" tIns="0" rIns="0" bIns="0" rtlCol="0" anchor="t"/>
          <a:lstStyle/>
          <a:p>
            <a:pPr marL="0" indent="0" algn="l">
              <a:lnSpc>
                <a:spcPts val="2900"/>
              </a:lnSpc>
              <a:buNone/>
            </a:pPr>
            <a:r>
              <a:rPr lang="en-US" sz="2350" dirty="0">
                <a:solidFill>
                  <a:srgbClr val="F98AC7"/>
                </a:solidFill>
                <a:latin typeface="Lora" pitchFamily="34" charset="0"/>
                <a:ea typeface="Lora" pitchFamily="34" charset="-122"/>
                <a:cs typeface="Lora" pitchFamily="34" charset="-120"/>
              </a:rPr>
              <a:t>4. LCD Display for Real-Time Data Visualization</a:t>
            </a:r>
            <a:endParaRPr lang="en-US" sz="2350" dirty="0"/>
          </a:p>
        </p:txBody>
      </p:sp>
      <p:sp>
        <p:nvSpPr>
          <p:cNvPr id="4" name="Text 2"/>
          <p:cNvSpPr/>
          <p:nvPr/>
        </p:nvSpPr>
        <p:spPr>
          <a:xfrm>
            <a:off x="742474" y="2218015"/>
            <a:ext cx="13145453" cy="5431155"/>
          </a:xfrm>
          <a:prstGeom prst="rect">
            <a:avLst/>
          </a:prstGeom>
          <a:noFill/>
          <a:ln/>
        </p:spPr>
        <p:txBody>
          <a:bodyPr wrap="square" lIns="0" tIns="0" rIns="0" bIns="0" rtlCol="0" anchor="t"/>
          <a:lstStyle/>
          <a:p>
            <a:pPr marL="0" indent="0" algn="l">
              <a:lnSpc>
                <a:spcPts val="2650"/>
              </a:lnSpc>
              <a:buNone/>
            </a:pPr>
            <a:r>
              <a:rPr lang="en-US" sz="1650" dirty="0">
                <a:solidFill>
                  <a:srgbClr val="D6E5EF"/>
                </a:solidFill>
                <a:latin typeface="Source Sans Pro" pitchFamily="34" charset="0"/>
                <a:ea typeface="Source Sans Pro" pitchFamily="34" charset="-122"/>
                <a:cs typeface="Source Sans Pro" pitchFamily="34" charset="-120"/>
              </a:rPr>
              <a:t>
</a:t>
            </a:r>
            <a:r>
              <a:rPr lang="en-US" sz="1650" b="1" dirty="0">
                <a:solidFill>
                  <a:srgbClr val="D6E5EF"/>
                </a:solidFill>
                <a:latin typeface="Source Sans Pro" pitchFamily="34" charset="0"/>
                <a:ea typeface="Source Sans Pro" pitchFamily="34" charset="-122"/>
                <a:cs typeface="Source Sans Pro" pitchFamily="34" charset="-120"/>
              </a:rPr>
              <a:t>Purpose of Study:</a:t>
            </a:r>
            <a:r>
              <a:rPr lang="en-US" sz="1650" dirty="0">
                <a:solidFill>
                  <a:srgbClr val="D6E5EF"/>
                </a:solidFill>
                <a:latin typeface="Source Sans Pro" pitchFamily="34" charset="0"/>
                <a:ea typeface="Source Sans Pro" pitchFamily="34" charset="-122"/>
                <a:cs typeface="Source Sans Pro" pitchFamily="34" charset="-120"/>
              </a:rPr>
              <a:t>
Singh et al. (2015) and Yadav et al. (2020) investigate the integration of LCDs into embedded systems
to enhance real-time data visualization. LCDs are commonly used for displaying environmental
monitoring data, providing users with immediate feedback.
</a:t>
            </a:r>
            <a:r>
              <a:rPr lang="en-US" sz="1650" b="1" dirty="0">
                <a:solidFill>
                  <a:srgbClr val="D6E5EF"/>
                </a:solidFill>
                <a:latin typeface="Source Sans Pro" pitchFamily="34" charset="0"/>
                <a:ea typeface="Source Sans Pro" pitchFamily="34" charset="-122"/>
                <a:cs typeface="Source Sans Pro" pitchFamily="34" charset="-120"/>
              </a:rPr>
              <a:t>Method Used:</a:t>
            </a:r>
            <a:r>
              <a:rPr lang="en-US" sz="1650" dirty="0">
                <a:solidFill>
                  <a:srgbClr val="D6E5EF"/>
                </a:solidFill>
                <a:latin typeface="Source Sans Pro" pitchFamily="34" charset="0"/>
                <a:ea typeface="Source Sans Pro" pitchFamily="34" charset="-122"/>
                <a:cs typeface="Source Sans Pro" pitchFamily="34" charset="-120"/>
              </a:rPr>
              <a:t>
LCD modules, such as the 16x2 and 20x4 variants, are interfaced with microcontrollers to display real-
time data in a clear, user-friendly format. They can show numerical values and custom messages,
improving the overall user experience.
</a:t>
            </a:r>
            <a:r>
              <a:rPr lang="en-US" sz="1650" b="1" dirty="0">
                <a:solidFill>
                  <a:srgbClr val="D6E5EF"/>
                </a:solidFill>
                <a:latin typeface="Source Sans Pro" pitchFamily="34" charset="0"/>
                <a:ea typeface="Source Sans Pro" pitchFamily="34" charset="-122"/>
                <a:cs typeface="Source Sans Pro" pitchFamily="34" charset="-120"/>
              </a:rPr>
              <a:t>Key Findings and Results:</a:t>
            </a:r>
            <a:r>
              <a:rPr lang="en-US" sz="1650" dirty="0">
                <a:solidFill>
                  <a:srgbClr val="D6E5EF"/>
                </a:solidFill>
                <a:latin typeface="Source Sans Pro" pitchFamily="34" charset="0"/>
                <a:ea typeface="Source Sans Pro" pitchFamily="34" charset="-122"/>
                <a:cs typeface="Source Sans Pro" pitchFamily="34" charset="-120"/>
              </a:rPr>
              <a:t>
The studies show that LCDs are highly effective in displaying data in real time, offering clear visibility
even in varying light conditions. Their low power consumption and ease of integration make them a
preferred choice for portable monitoring systems.
</a:t>
            </a:r>
            <a:r>
              <a:rPr lang="en-US" sz="1650" b="1" dirty="0">
                <a:solidFill>
                  <a:srgbClr val="D6E5EF"/>
                </a:solidFill>
                <a:latin typeface="Source Sans Pro" pitchFamily="34" charset="0"/>
                <a:ea typeface="Source Sans Pro" pitchFamily="34" charset="-122"/>
                <a:cs typeface="Source Sans Pro" pitchFamily="34" charset="-120"/>
              </a:rPr>
              <a:t>Conclusion:</a:t>
            </a:r>
            <a:r>
              <a:rPr lang="en-US" sz="1650" dirty="0">
                <a:solidFill>
                  <a:srgbClr val="D6E5EF"/>
                </a:solidFill>
                <a:latin typeface="Source Sans Pro" pitchFamily="34" charset="0"/>
                <a:ea typeface="Source Sans Pro" pitchFamily="34" charset="-122"/>
                <a:cs typeface="Source Sans Pro" pitchFamily="34" charset="-120"/>
              </a:rPr>
              <a:t>
LCD displays enhance the functionality of monitoring devices by providing immediate, easy-to-read
feedback, ensuring users can interpret data quickly and accurately.</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2474" y="583287"/>
            <a:ext cx="4991695" cy="624007"/>
          </a:xfrm>
          <a:prstGeom prst="rect">
            <a:avLst/>
          </a:prstGeom>
          <a:noFill/>
          <a:ln/>
        </p:spPr>
        <p:txBody>
          <a:bodyPr wrap="none" lIns="0" tIns="0" rIns="0" bIns="0" rtlCol="0" anchor="t"/>
          <a:lstStyle/>
          <a:p>
            <a:pPr marL="0" indent="0" algn="l">
              <a:lnSpc>
                <a:spcPts val="4900"/>
              </a:lnSpc>
              <a:buNone/>
            </a:pPr>
            <a:endParaRPr lang="en-US" sz="3900" dirty="0"/>
          </a:p>
        </p:txBody>
      </p:sp>
      <p:sp>
        <p:nvSpPr>
          <p:cNvPr id="3" name="Text 1"/>
          <p:cNvSpPr/>
          <p:nvPr/>
        </p:nvSpPr>
        <p:spPr>
          <a:xfrm>
            <a:off x="742474" y="1525429"/>
            <a:ext cx="4887278" cy="374452"/>
          </a:xfrm>
          <a:prstGeom prst="rect">
            <a:avLst/>
          </a:prstGeom>
          <a:noFill/>
          <a:ln/>
        </p:spPr>
        <p:txBody>
          <a:bodyPr wrap="none" lIns="0" tIns="0" rIns="0" bIns="0" rtlCol="0" anchor="t"/>
          <a:lstStyle/>
          <a:p>
            <a:pPr marL="0" indent="0" algn="l">
              <a:lnSpc>
                <a:spcPts val="2900"/>
              </a:lnSpc>
              <a:buNone/>
            </a:pPr>
            <a:r>
              <a:rPr lang="en-US" sz="2350" dirty="0">
                <a:solidFill>
                  <a:srgbClr val="F98AC7"/>
                </a:solidFill>
                <a:latin typeface="Lora" pitchFamily="34" charset="0"/>
                <a:ea typeface="Lora" pitchFamily="34" charset="-122"/>
                <a:cs typeface="Lora" pitchFamily="34" charset="-120"/>
              </a:rPr>
              <a:t>5. Impact of Air Pollution on Health</a:t>
            </a:r>
            <a:endParaRPr lang="en-US" sz="2350" dirty="0"/>
          </a:p>
        </p:txBody>
      </p:sp>
      <p:sp>
        <p:nvSpPr>
          <p:cNvPr id="4" name="Text 2"/>
          <p:cNvSpPr/>
          <p:nvPr/>
        </p:nvSpPr>
        <p:spPr>
          <a:xfrm>
            <a:off x="742474" y="2218015"/>
            <a:ext cx="13145453" cy="5431155"/>
          </a:xfrm>
          <a:prstGeom prst="rect">
            <a:avLst/>
          </a:prstGeom>
          <a:noFill/>
          <a:ln/>
        </p:spPr>
        <p:txBody>
          <a:bodyPr wrap="square" lIns="0" tIns="0" rIns="0" bIns="0" rtlCol="0" anchor="t"/>
          <a:lstStyle/>
          <a:p>
            <a:pPr marL="0" indent="0" algn="l">
              <a:lnSpc>
                <a:spcPts val="2650"/>
              </a:lnSpc>
              <a:buNone/>
            </a:pPr>
            <a:r>
              <a:rPr lang="en-US" sz="1650" dirty="0">
                <a:solidFill>
                  <a:srgbClr val="D6E5EF"/>
                </a:solidFill>
                <a:latin typeface="Source Sans Pro" pitchFamily="34" charset="0"/>
                <a:ea typeface="Source Sans Pro" pitchFamily="34" charset="-122"/>
                <a:cs typeface="Source Sans Pro" pitchFamily="34" charset="-120"/>
              </a:rPr>
              <a:t>
</a:t>
            </a:r>
            <a:r>
              <a:rPr lang="en-US" sz="1650" b="1" dirty="0">
                <a:solidFill>
                  <a:srgbClr val="D6E5EF"/>
                </a:solidFill>
                <a:latin typeface="Source Sans Pro" pitchFamily="34" charset="0"/>
                <a:ea typeface="Source Sans Pro" pitchFamily="34" charset="-122"/>
                <a:cs typeface="Source Sans Pro" pitchFamily="34" charset="-120"/>
              </a:rPr>
              <a:t>Purpose of Study:</a:t>
            </a:r>
            <a:r>
              <a:rPr lang="en-US" sz="1650" dirty="0">
                <a:solidFill>
                  <a:srgbClr val="D6E5EF"/>
                </a:solidFill>
                <a:latin typeface="Source Sans Pro" pitchFamily="34" charset="0"/>
                <a:ea typeface="Source Sans Pro" pitchFamily="34" charset="-122"/>
                <a:cs typeface="Source Sans Pro" pitchFamily="34" charset="-120"/>
              </a:rPr>
              <a:t>
Studies by Brook et al. (2010) and Lelieveld et al. (2015) highlight the severe health impacts of airpollution, particularly in urban areas. The focus is on how prolonged exposure to pollutants can lead to
chronic respiratory and cardiovascular diseases.
</a:t>
            </a:r>
            <a:r>
              <a:rPr lang="en-US" sz="1650" b="1" dirty="0">
                <a:solidFill>
                  <a:srgbClr val="D6E5EF"/>
                </a:solidFill>
                <a:latin typeface="Source Sans Pro" pitchFamily="34" charset="0"/>
                <a:ea typeface="Source Sans Pro" pitchFamily="34" charset="-122"/>
                <a:cs typeface="Source Sans Pro" pitchFamily="34" charset="-120"/>
              </a:rPr>
              <a:t>Method Used:</a:t>
            </a:r>
            <a:r>
              <a:rPr lang="en-US" sz="1650" dirty="0">
                <a:solidFill>
                  <a:srgbClr val="D6E5EF"/>
                </a:solidFill>
                <a:latin typeface="Source Sans Pro" pitchFamily="34" charset="0"/>
                <a:ea typeface="Source Sans Pro" pitchFamily="34" charset="-122"/>
                <a:cs typeface="Source Sans Pro" pitchFamily="34" charset="-120"/>
              </a:rPr>
              <a:t>
The research involves longitudinal studies correlating air quality data with health outcomes, using large
datasets to assess the long-term effects of exposure to pollutants like CO2, NOx, and particulate matter
(PM2.5, PM10).
</a:t>
            </a:r>
            <a:r>
              <a:rPr lang="en-US" sz="1650" b="1" dirty="0">
                <a:solidFill>
                  <a:srgbClr val="D6E5EF"/>
                </a:solidFill>
                <a:latin typeface="Source Sans Pro" pitchFamily="34" charset="0"/>
                <a:ea typeface="Source Sans Pro" pitchFamily="34" charset="-122"/>
                <a:cs typeface="Source Sans Pro" pitchFamily="34" charset="-120"/>
              </a:rPr>
              <a:t>Key Findings and Results:</a:t>
            </a:r>
            <a:r>
              <a:rPr lang="en-US" sz="1650" dirty="0">
                <a:solidFill>
                  <a:srgbClr val="D6E5EF"/>
                </a:solidFill>
                <a:latin typeface="Source Sans Pro" pitchFamily="34" charset="0"/>
                <a:ea typeface="Source Sans Pro" pitchFamily="34" charset="-122"/>
                <a:cs typeface="Source Sans Pro" pitchFamily="34" charset="-120"/>
              </a:rPr>
              <a:t>
The studies confirm a strong link between poor air quality and an increased risk of respiratory illnesses,
cardiovascular problems, and even premature death. Vulnerable populations, including children and the
elderly, are particularly at risk.
</a:t>
            </a:r>
            <a:r>
              <a:rPr lang="en-US" sz="1650" b="1" dirty="0">
                <a:solidFill>
                  <a:srgbClr val="D6E5EF"/>
                </a:solidFill>
                <a:latin typeface="Source Sans Pro" pitchFamily="34" charset="0"/>
                <a:ea typeface="Source Sans Pro" pitchFamily="34" charset="-122"/>
                <a:cs typeface="Source Sans Pro" pitchFamily="34" charset="-120"/>
              </a:rPr>
              <a:t>Conclusion:</a:t>
            </a:r>
            <a:r>
              <a:rPr lang="en-US" sz="1650" dirty="0">
                <a:solidFill>
                  <a:srgbClr val="D6E5EF"/>
                </a:solidFill>
                <a:latin typeface="Source Sans Pro" pitchFamily="34" charset="0"/>
                <a:ea typeface="Source Sans Pro" pitchFamily="34" charset="-122"/>
                <a:cs typeface="Source Sans Pro" pitchFamily="34" charset="-120"/>
              </a:rPr>
              <a:t>
Understanding the health impacts of air pollution underscores the importance of real-time air quality
monitoring, which can help mitigate exposure and improve public health outcomes.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185386"/>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Components Used</a:t>
            </a:r>
            <a:endParaRPr lang="en-US" sz="4400" dirty="0"/>
          </a:p>
        </p:txBody>
      </p:sp>
      <p:pic>
        <p:nvPicPr>
          <p:cNvPr id="4" name="Image 1" descr="preencoded.png"/>
          <p:cNvPicPr>
            <a:picLocks noChangeAspect="1"/>
          </p:cNvPicPr>
          <p:nvPr/>
        </p:nvPicPr>
        <p:blipFill>
          <a:blip r:embed="rId4"/>
          <a:stretch>
            <a:fillRect/>
          </a:stretch>
        </p:blipFill>
        <p:spPr>
          <a:xfrm>
            <a:off x="6324124" y="2248376"/>
            <a:ext cx="562451" cy="562451"/>
          </a:xfrm>
          <a:prstGeom prst="rect">
            <a:avLst/>
          </a:prstGeom>
        </p:spPr>
      </p:pic>
      <p:sp>
        <p:nvSpPr>
          <p:cNvPr id="5" name="Text 1"/>
          <p:cNvSpPr/>
          <p:nvPr/>
        </p:nvSpPr>
        <p:spPr>
          <a:xfrm>
            <a:off x="6324124" y="3050143"/>
            <a:ext cx="2250162" cy="703898"/>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MQ135 Gas Sensor</a:t>
            </a:r>
            <a:endParaRPr lang="en-US" sz="2200" dirty="0"/>
          </a:p>
        </p:txBody>
      </p:sp>
      <p:pic>
        <p:nvPicPr>
          <p:cNvPr id="6" name="Image 2" descr="preencoded.png"/>
          <p:cNvPicPr>
            <a:picLocks noChangeAspect="1"/>
          </p:cNvPicPr>
          <p:nvPr/>
        </p:nvPicPr>
        <p:blipFill>
          <a:blip r:embed="rId5"/>
          <a:stretch>
            <a:fillRect/>
          </a:stretch>
        </p:blipFill>
        <p:spPr>
          <a:xfrm>
            <a:off x="8933259" y="2248376"/>
            <a:ext cx="562451" cy="562451"/>
          </a:xfrm>
          <a:prstGeom prst="rect">
            <a:avLst/>
          </a:prstGeom>
        </p:spPr>
      </p:pic>
      <p:sp>
        <p:nvSpPr>
          <p:cNvPr id="7" name="Text 2"/>
          <p:cNvSpPr/>
          <p:nvPr/>
        </p:nvSpPr>
        <p:spPr>
          <a:xfrm>
            <a:off x="8933259" y="3050143"/>
            <a:ext cx="2250162"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Arduino Uno</a:t>
            </a:r>
            <a:endParaRPr lang="en-US" sz="2200" dirty="0"/>
          </a:p>
        </p:txBody>
      </p:sp>
      <p:pic>
        <p:nvPicPr>
          <p:cNvPr id="8" name="Image 3" descr="preencoded.png"/>
          <p:cNvPicPr>
            <a:picLocks noChangeAspect="1"/>
          </p:cNvPicPr>
          <p:nvPr/>
        </p:nvPicPr>
        <p:blipFill>
          <a:blip r:embed="rId6"/>
          <a:stretch>
            <a:fillRect/>
          </a:stretch>
        </p:blipFill>
        <p:spPr>
          <a:xfrm>
            <a:off x="11542395" y="2248376"/>
            <a:ext cx="562570" cy="562570"/>
          </a:xfrm>
          <a:prstGeom prst="rect">
            <a:avLst/>
          </a:prstGeom>
        </p:spPr>
      </p:pic>
      <p:sp>
        <p:nvSpPr>
          <p:cNvPr id="9" name="Text 3"/>
          <p:cNvSpPr/>
          <p:nvPr/>
        </p:nvSpPr>
        <p:spPr>
          <a:xfrm>
            <a:off x="11542395" y="3050262"/>
            <a:ext cx="2250281"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16x2 LCD Display</a:t>
            </a:r>
            <a:endParaRPr lang="en-US" sz="2200" dirty="0"/>
          </a:p>
        </p:txBody>
      </p:sp>
      <p:pic>
        <p:nvPicPr>
          <p:cNvPr id="10" name="Image 4" descr="preencoded.png"/>
          <p:cNvPicPr>
            <a:picLocks noChangeAspect="1"/>
          </p:cNvPicPr>
          <p:nvPr/>
        </p:nvPicPr>
        <p:blipFill>
          <a:blip r:embed="rId7"/>
          <a:stretch>
            <a:fillRect/>
          </a:stretch>
        </p:blipFill>
        <p:spPr>
          <a:xfrm>
            <a:off x="6324124" y="4472107"/>
            <a:ext cx="562451" cy="562451"/>
          </a:xfrm>
          <a:prstGeom prst="rect">
            <a:avLst/>
          </a:prstGeom>
        </p:spPr>
      </p:pic>
      <p:sp>
        <p:nvSpPr>
          <p:cNvPr id="11" name="Text 4"/>
          <p:cNvSpPr/>
          <p:nvPr/>
        </p:nvSpPr>
        <p:spPr>
          <a:xfrm>
            <a:off x="6324124" y="5273873"/>
            <a:ext cx="2250162"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Jumper Wires</a:t>
            </a:r>
            <a:endParaRPr lang="en-US" sz="2200" dirty="0"/>
          </a:p>
        </p:txBody>
      </p:sp>
      <p:sp>
        <p:nvSpPr>
          <p:cNvPr id="12" name="Text 5"/>
          <p:cNvSpPr/>
          <p:nvPr/>
        </p:nvSpPr>
        <p:spPr>
          <a:xfrm>
            <a:off x="6324124" y="5895023"/>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MQ135 sensor detects a broad range of gases. The Arduino Uno processes sensor data and controls the LCD. The 16x2 LCD displays the AQI. Jumper wires connect all components on the breadboard.</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580793"/>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Circuit Diagram</a:t>
            </a:r>
            <a:endParaRPr lang="en-US" sz="4400" dirty="0"/>
          </a:p>
        </p:txBody>
      </p:sp>
      <p:pic>
        <p:nvPicPr>
          <p:cNvPr id="4" name="Image 1" descr="preencoded.png"/>
          <p:cNvPicPr>
            <a:picLocks noChangeAspect="1"/>
          </p:cNvPicPr>
          <p:nvPr/>
        </p:nvPicPr>
        <p:blipFill>
          <a:blip r:embed="rId4"/>
          <a:stretch>
            <a:fillRect/>
          </a:stretch>
        </p:blipFill>
        <p:spPr>
          <a:xfrm>
            <a:off x="6324124" y="2643783"/>
            <a:ext cx="3880128" cy="2586752"/>
          </a:xfrm>
          <a:prstGeom prst="rect">
            <a:avLst/>
          </a:prstGeom>
        </p:spPr>
      </p:pic>
      <p:sp>
        <p:nvSpPr>
          <p:cNvPr id="5" name="Text 1"/>
          <p:cNvSpPr/>
          <p:nvPr/>
        </p:nvSpPr>
        <p:spPr>
          <a:xfrm>
            <a:off x="6324124" y="5499735"/>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The diagram shows how each component is wired together on the breadboard, ensuring proper functionality of the air quality monitoring system. The diagram is necessary for assembling this project.</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9503" y="620435"/>
            <a:ext cx="5308044" cy="663416"/>
          </a:xfrm>
          <a:prstGeom prst="rect">
            <a:avLst/>
          </a:prstGeom>
          <a:noFill/>
          <a:ln/>
        </p:spPr>
        <p:txBody>
          <a:bodyPr wrap="none" lIns="0" tIns="0" rIns="0" bIns="0" rtlCol="0" anchor="t"/>
          <a:lstStyle/>
          <a:p>
            <a:pPr marL="0" indent="0" algn="l">
              <a:lnSpc>
                <a:spcPts val="5200"/>
              </a:lnSpc>
              <a:buNone/>
            </a:pPr>
            <a:r>
              <a:rPr lang="en-US" sz="4150" dirty="0">
                <a:solidFill>
                  <a:srgbClr val="F98AC7"/>
                </a:solidFill>
                <a:latin typeface="Lora" pitchFamily="34" charset="0"/>
                <a:ea typeface="Lora" pitchFamily="34" charset="-122"/>
                <a:cs typeface="Lora" pitchFamily="34" charset="-120"/>
              </a:rPr>
              <a:t>Methodology</a:t>
            </a:r>
            <a:endParaRPr lang="en-US" sz="4150" dirty="0"/>
          </a:p>
        </p:txBody>
      </p:sp>
      <p:pic>
        <p:nvPicPr>
          <p:cNvPr id="4" name="Image 1" descr="preencoded.png"/>
          <p:cNvPicPr>
            <a:picLocks noChangeAspect="1"/>
          </p:cNvPicPr>
          <p:nvPr/>
        </p:nvPicPr>
        <p:blipFill>
          <a:blip r:embed="rId4"/>
          <a:stretch>
            <a:fillRect/>
          </a:stretch>
        </p:blipFill>
        <p:spPr>
          <a:xfrm>
            <a:off x="789503" y="1622227"/>
            <a:ext cx="1127879" cy="1639967"/>
          </a:xfrm>
          <a:prstGeom prst="rect">
            <a:avLst/>
          </a:prstGeom>
        </p:spPr>
      </p:pic>
      <p:sp>
        <p:nvSpPr>
          <p:cNvPr id="5" name="Text 1"/>
          <p:cNvSpPr/>
          <p:nvPr/>
        </p:nvSpPr>
        <p:spPr>
          <a:xfrm>
            <a:off x="2255758" y="1847731"/>
            <a:ext cx="2654022" cy="331708"/>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Gas Detection</a:t>
            </a:r>
            <a:endParaRPr lang="en-US" sz="2050" dirty="0"/>
          </a:p>
        </p:txBody>
      </p:sp>
      <p:sp>
        <p:nvSpPr>
          <p:cNvPr id="6" name="Text 2"/>
          <p:cNvSpPr/>
          <p:nvPr/>
        </p:nvSpPr>
        <p:spPr>
          <a:xfrm>
            <a:off x="2255758" y="2314694"/>
            <a:ext cx="6098738" cy="721995"/>
          </a:xfrm>
          <a:prstGeom prst="rect">
            <a:avLst/>
          </a:prstGeom>
          <a:noFill/>
          <a:ln/>
        </p:spPr>
        <p:txBody>
          <a:bodyPr wrap="squar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MQ135 detects concentrations of gases like CO₂, NH₃, and Toluene.</a:t>
            </a:r>
            <a:endParaRPr lang="en-US" sz="1750" dirty="0"/>
          </a:p>
        </p:txBody>
      </p:sp>
      <p:pic>
        <p:nvPicPr>
          <p:cNvPr id="7" name="Image 2" descr="preencoded.png"/>
          <p:cNvPicPr>
            <a:picLocks noChangeAspect="1"/>
          </p:cNvPicPr>
          <p:nvPr/>
        </p:nvPicPr>
        <p:blipFill>
          <a:blip r:embed="rId5"/>
          <a:stretch>
            <a:fillRect/>
          </a:stretch>
        </p:blipFill>
        <p:spPr>
          <a:xfrm>
            <a:off x="789503" y="3262193"/>
            <a:ext cx="1127879" cy="1639967"/>
          </a:xfrm>
          <a:prstGeom prst="rect">
            <a:avLst/>
          </a:prstGeom>
        </p:spPr>
      </p:pic>
      <p:sp>
        <p:nvSpPr>
          <p:cNvPr id="8" name="Text 3"/>
          <p:cNvSpPr/>
          <p:nvPr/>
        </p:nvSpPr>
        <p:spPr>
          <a:xfrm>
            <a:off x="2255758" y="3487698"/>
            <a:ext cx="2786420" cy="331708"/>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Resistance Conversion</a:t>
            </a:r>
            <a:endParaRPr lang="en-US" sz="2050" dirty="0"/>
          </a:p>
        </p:txBody>
      </p:sp>
      <p:sp>
        <p:nvSpPr>
          <p:cNvPr id="9" name="Text 4"/>
          <p:cNvSpPr/>
          <p:nvPr/>
        </p:nvSpPr>
        <p:spPr>
          <a:xfrm>
            <a:off x="2255758" y="3954661"/>
            <a:ext cx="6098738" cy="721995"/>
          </a:xfrm>
          <a:prstGeom prst="rect">
            <a:avLst/>
          </a:prstGeom>
          <a:noFill/>
          <a:ln/>
        </p:spPr>
        <p:txBody>
          <a:bodyPr wrap="squar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Sensor resistance values are converted to PPM (parts per million).</a:t>
            </a:r>
            <a:endParaRPr lang="en-US" sz="1750" dirty="0"/>
          </a:p>
        </p:txBody>
      </p:sp>
      <p:pic>
        <p:nvPicPr>
          <p:cNvPr id="10" name="Image 3" descr="preencoded.png"/>
          <p:cNvPicPr>
            <a:picLocks noChangeAspect="1"/>
          </p:cNvPicPr>
          <p:nvPr/>
        </p:nvPicPr>
        <p:blipFill>
          <a:blip r:embed="rId6"/>
          <a:stretch>
            <a:fillRect/>
          </a:stretch>
        </p:blipFill>
        <p:spPr>
          <a:xfrm>
            <a:off x="789503" y="4902160"/>
            <a:ext cx="1127879" cy="1353503"/>
          </a:xfrm>
          <a:prstGeom prst="rect">
            <a:avLst/>
          </a:prstGeom>
        </p:spPr>
      </p:pic>
      <p:sp>
        <p:nvSpPr>
          <p:cNvPr id="11" name="Text 5"/>
          <p:cNvSpPr/>
          <p:nvPr/>
        </p:nvSpPr>
        <p:spPr>
          <a:xfrm>
            <a:off x="2255758" y="5127665"/>
            <a:ext cx="2654022" cy="331708"/>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AQI Calculation</a:t>
            </a:r>
            <a:endParaRPr lang="en-US" sz="2050" dirty="0"/>
          </a:p>
        </p:txBody>
      </p:sp>
      <p:sp>
        <p:nvSpPr>
          <p:cNvPr id="12" name="Text 6"/>
          <p:cNvSpPr/>
          <p:nvPr/>
        </p:nvSpPr>
        <p:spPr>
          <a:xfrm>
            <a:off x="2255758" y="5594628"/>
            <a:ext cx="6098738" cy="360998"/>
          </a:xfrm>
          <a:prstGeom prst="rect">
            <a:avLst/>
          </a:prstGeom>
          <a:noFill/>
          <a:ln/>
        </p:spPr>
        <p:txBody>
          <a:bodyPr wrap="non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Relative AQI values are calculated based on PPM levels.</a:t>
            </a:r>
            <a:endParaRPr lang="en-US" sz="1750" dirty="0"/>
          </a:p>
        </p:txBody>
      </p:sp>
      <p:pic>
        <p:nvPicPr>
          <p:cNvPr id="13" name="Image 4" descr="preencoded.png"/>
          <p:cNvPicPr>
            <a:picLocks noChangeAspect="1"/>
          </p:cNvPicPr>
          <p:nvPr/>
        </p:nvPicPr>
        <p:blipFill>
          <a:blip r:embed="rId7"/>
          <a:stretch>
            <a:fillRect/>
          </a:stretch>
        </p:blipFill>
        <p:spPr>
          <a:xfrm>
            <a:off x="789503" y="6255663"/>
            <a:ext cx="1127879" cy="1353503"/>
          </a:xfrm>
          <a:prstGeom prst="rect">
            <a:avLst/>
          </a:prstGeom>
        </p:spPr>
      </p:pic>
      <p:sp>
        <p:nvSpPr>
          <p:cNvPr id="14" name="Text 7"/>
          <p:cNvSpPr/>
          <p:nvPr/>
        </p:nvSpPr>
        <p:spPr>
          <a:xfrm>
            <a:off x="2255758" y="6481167"/>
            <a:ext cx="2654022" cy="331708"/>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Data Display</a:t>
            </a:r>
            <a:endParaRPr lang="en-US" sz="2050" dirty="0"/>
          </a:p>
        </p:txBody>
      </p:sp>
      <p:sp>
        <p:nvSpPr>
          <p:cNvPr id="15" name="Text 8"/>
          <p:cNvSpPr/>
          <p:nvPr/>
        </p:nvSpPr>
        <p:spPr>
          <a:xfrm>
            <a:off x="2255758" y="6948130"/>
            <a:ext cx="6098738" cy="360998"/>
          </a:xfrm>
          <a:prstGeom prst="rect">
            <a:avLst/>
          </a:prstGeom>
          <a:noFill/>
          <a:ln/>
        </p:spPr>
        <p:txBody>
          <a:bodyPr wrap="non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LCD shows AQI in real-time; Python script graphs live data.</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148834"/>
            <a:ext cx="6234827"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Arduino Code Overview</a:t>
            </a:r>
            <a:endParaRPr lang="en-US" sz="4400" dirty="0"/>
          </a:p>
        </p:txBody>
      </p:sp>
      <p:sp>
        <p:nvSpPr>
          <p:cNvPr id="4" name="Shape 1"/>
          <p:cNvSpPr/>
          <p:nvPr/>
        </p:nvSpPr>
        <p:spPr>
          <a:xfrm>
            <a:off x="837724" y="2211824"/>
            <a:ext cx="3614618" cy="2889290"/>
          </a:xfrm>
          <a:prstGeom prst="roundRect">
            <a:avLst>
              <a:gd name="adj" fmla="val 1243"/>
            </a:avLst>
          </a:prstGeom>
          <a:solidFill>
            <a:srgbClr val="444752"/>
          </a:solidFill>
          <a:ln/>
        </p:spPr>
        <p:txBody>
          <a:bodyPr/>
          <a:lstStyle/>
          <a:p>
            <a:endParaRPr lang="en-IN"/>
          </a:p>
        </p:txBody>
      </p:sp>
      <p:sp>
        <p:nvSpPr>
          <p:cNvPr id="5" name="Text 2"/>
          <p:cNvSpPr/>
          <p:nvPr/>
        </p:nvSpPr>
        <p:spPr>
          <a:xfrm>
            <a:off x="1077039" y="245114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Sensor Reading</a:t>
            </a:r>
            <a:endParaRPr lang="en-US" sz="2200" dirty="0"/>
          </a:p>
        </p:txBody>
      </p:sp>
      <p:sp>
        <p:nvSpPr>
          <p:cNvPr id="6" name="Text 3"/>
          <p:cNvSpPr/>
          <p:nvPr/>
        </p:nvSpPr>
        <p:spPr>
          <a:xfrm>
            <a:off x="1077039" y="2946678"/>
            <a:ext cx="3135987"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Arduino code initializes the MQ135 sensor and continuously reads gas concentration values.</a:t>
            </a:r>
            <a:endParaRPr lang="en-US" sz="1850" dirty="0"/>
          </a:p>
        </p:txBody>
      </p:sp>
      <p:sp>
        <p:nvSpPr>
          <p:cNvPr id="7" name="Shape 4"/>
          <p:cNvSpPr/>
          <p:nvPr/>
        </p:nvSpPr>
        <p:spPr>
          <a:xfrm>
            <a:off x="4691658" y="2211824"/>
            <a:ext cx="3614618" cy="2889290"/>
          </a:xfrm>
          <a:prstGeom prst="roundRect">
            <a:avLst>
              <a:gd name="adj" fmla="val 1243"/>
            </a:avLst>
          </a:prstGeom>
          <a:solidFill>
            <a:srgbClr val="444752"/>
          </a:solidFill>
          <a:ln/>
        </p:spPr>
        <p:txBody>
          <a:bodyPr/>
          <a:lstStyle/>
          <a:p>
            <a:endParaRPr lang="en-IN"/>
          </a:p>
        </p:txBody>
      </p:sp>
      <p:sp>
        <p:nvSpPr>
          <p:cNvPr id="8" name="Text 5"/>
          <p:cNvSpPr/>
          <p:nvPr/>
        </p:nvSpPr>
        <p:spPr>
          <a:xfrm>
            <a:off x="4930973" y="245114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AQI Calculation</a:t>
            </a:r>
            <a:endParaRPr lang="en-US" sz="2200" dirty="0"/>
          </a:p>
        </p:txBody>
      </p:sp>
      <p:sp>
        <p:nvSpPr>
          <p:cNvPr id="9" name="Text 6"/>
          <p:cNvSpPr/>
          <p:nvPr/>
        </p:nvSpPr>
        <p:spPr>
          <a:xfrm>
            <a:off x="4930973" y="2946678"/>
            <a:ext cx="3135987"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Raw sensor data is processed to calculate the Air Quality Index (AQI) based on predefined formulas and reference values.</a:t>
            </a:r>
            <a:endParaRPr lang="en-US" sz="1850" dirty="0"/>
          </a:p>
        </p:txBody>
      </p:sp>
      <p:sp>
        <p:nvSpPr>
          <p:cNvPr id="10" name="Shape 7"/>
          <p:cNvSpPr/>
          <p:nvPr/>
        </p:nvSpPr>
        <p:spPr>
          <a:xfrm>
            <a:off x="837724" y="5340429"/>
            <a:ext cx="7468553" cy="1740218"/>
          </a:xfrm>
          <a:prstGeom prst="roundRect">
            <a:avLst>
              <a:gd name="adj" fmla="val 2063"/>
            </a:avLst>
          </a:prstGeom>
          <a:solidFill>
            <a:srgbClr val="444752"/>
          </a:solidFill>
          <a:ln/>
        </p:spPr>
        <p:txBody>
          <a:bodyPr/>
          <a:lstStyle/>
          <a:p>
            <a:endParaRPr lang="en-IN"/>
          </a:p>
        </p:txBody>
      </p:sp>
      <p:sp>
        <p:nvSpPr>
          <p:cNvPr id="11" name="Text 8"/>
          <p:cNvSpPr/>
          <p:nvPr/>
        </p:nvSpPr>
        <p:spPr>
          <a:xfrm>
            <a:off x="1077039" y="5579745"/>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Serial Output</a:t>
            </a:r>
            <a:endParaRPr lang="en-US" sz="2200" dirty="0"/>
          </a:p>
        </p:txBody>
      </p:sp>
      <p:sp>
        <p:nvSpPr>
          <p:cNvPr id="12" name="Text 9"/>
          <p:cNvSpPr/>
          <p:nvPr/>
        </p:nvSpPr>
        <p:spPr>
          <a:xfrm>
            <a:off x="1077039" y="6075283"/>
            <a:ext cx="6989921"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calculated AQI and individual pollutant levels are formatted and sent via serial communication to a connected computer.</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1084898"/>
            <a:ext cx="5974675"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Results and Discussion</a:t>
            </a:r>
            <a:endParaRPr lang="en-US" sz="4400" dirty="0"/>
          </a:p>
        </p:txBody>
      </p:sp>
      <p:sp>
        <p:nvSpPr>
          <p:cNvPr id="3" name="Text 1"/>
          <p:cNvSpPr/>
          <p:nvPr/>
        </p:nvSpPr>
        <p:spPr>
          <a:xfrm>
            <a:off x="837724" y="2267664"/>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system successfully monitors and displays real-time AQI readings on the LCD. Results indicate the system's capability for continuous environmental monitoring.</a:t>
            </a:r>
            <a:endParaRPr lang="en-US" sz="1850" dirty="0"/>
          </a:p>
        </p:txBody>
      </p:sp>
      <p:sp>
        <p:nvSpPr>
          <p:cNvPr id="4" name="Text 2"/>
          <p:cNvSpPr/>
          <p:nvPr/>
        </p:nvSpPr>
        <p:spPr>
          <a:xfrm>
            <a:off x="837724" y="3302913"/>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5" name="Text 3"/>
          <p:cNvSpPr/>
          <p:nvPr/>
        </p:nvSpPr>
        <p:spPr>
          <a:xfrm>
            <a:off x="837724" y="3955137"/>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project evaluates the Air Quality Index (AQI) Monitoring Device's performance using three key metrics:</a:t>
            </a:r>
            <a:endParaRPr lang="en-US" sz="1850" dirty="0"/>
          </a:p>
        </p:txBody>
      </p:sp>
      <p:sp>
        <p:nvSpPr>
          <p:cNvPr id="6" name="Text 4"/>
          <p:cNvSpPr/>
          <p:nvPr/>
        </p:nvSpPr>
        <p:spPr>
          <a:xfrm>
            <a:off x="837724" y="4607362"/>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a:pPr>
            <a:r>
              <a:rPr lang="en-US" sz="1850" b="1" dirty="0">
                <a:solidFill>
                  <a:srgbClr val="D6E5EF"/>
                </a:solidFill>
                <a:latin typeface="Source Sans Pro" pitchFamily="34" charset="0"/>
                <a:ea typeface="Source Sans Pro" pitchFamily="34" charset="-122"/>
                <a:cs typeface="Source Sans Pro" pitchFamily="34" charset="-120"/>
              </a:rPr>
              <a:t>Sensor Accuracy</a:t>
            </a:r>
            <a:r>
              <a:rPr lang="en-US" sz="1850" dirty="0">
                <a:solidFill>
                  <a:srgbClr val="D6E5EF"/>
                </a:solidFill>
                <a:latin typeface="Source Sans Pro" pitchFamily="34" charset="0"/>
                <a:ea typeface="Source Sans Pro" pitchFamily="34" charset="-122"/>
                <a:cs typeface="Source Sans Pro" pitchFamily="34" charset="-120"/>
              </a:rPr>
              <a:t>: Determines the precision of the MQ-135 sensor in detecting air pollutants and calculating AQI values.</a:t>
            </a:r>
            <a:endParaRPr lang="en-US" sz="1850" dirty="0"/>
          </a:p>
        </p:txBody>
      </p:sp>
      <p:sp>
        <p:nvSpPr>
          <p:cNvPr id="7" name="Text 5"/>
          <p:cNvSpPr/>
          <p:nvPr/>
        </p:nvSpPr>
        <p:spPr>
          <a:xfrm>
            <a:off x="837724" y="5074087"/>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2"/>
            </a:pPr>
            <a:r>
              <a:rPr lang="en-US" sz="1850" b="1" dirty="0">
                <a:solidFill>
                  <a:srgbClr val="D6E5EF"/>
                </a:solidFill>
                <a:latin typeface="Source Sans Pro" pitchFamily="34" charset="0"/>
                <a:ea typeface="Source Sans Pro" pitchFamily="34" charset="-122"/>
                <a:cs typeface="Source Sans Pro" pitchFamily="34" charset="-120"/>
              </a:rPr>
              <a:t>Response Time</a:t>
            </a:r>
            <a:r>
              <a:rPr lang="en-US" sz="1850" dirty="0">
                <a:solidFill>
                  <a:srgbClr val="D6E5EF"/>
                </a:solidFill>
                <a:latin typeface="Source Sans Pro" pitchFamily="34" charset="0"/>
                <a:ea typeface="Source Sans Pro" pitchFamily="34" charset="-122"/>
                <a:cs typeface="Source Sans Pro" pitchFamily="34" charset="-120"/>
              </a:rPr>
              <a:t>: Measures the system’s efficiency in providing real-time AQI feedback by</a:t>
            </a:r>
            <a:endParaRPr lang="en-US" sz="1850" dirty="0"/>
          </a:p>
        </p:txBody>
      </p:sp>
      <p:sp>
        <p:nvSpPr>
          <p:cNvPr id="8" name="Text 6"/>
          <p:cNvSpPr/>
          <p:nvPr/>
        </p:nvSpPr>
        <p:spPr>
          <a:xfrm>
            <a:off x="837724" y="5726311"/>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analysing the delay between sensor readings and display updates.</a:t>
            </a:r>
            <a:endParaRPr lang="en-US" sz="1850" dirty="0"/>
          </a:p>
        </p:txBody>
      </p:sp>
      <p:sp>
        <p:nvSpPr>
          <p:cNvPr id="9" name="Text 7"/>
          <p:cNvSpPr/>
          <p:nvPr/>
        </p:nvSpPr>
        <p:spPr>
          <a:xfrm>
            <a:off x="837724" y="6378535"/>
            <a:ext cx="12954952" cy="766048"/>
          </a:xfrm>
          <a:prstGeom prst="rect">
            <a:avLst/>
          </a:prstGeom>
          <a:noFill/>
          <a:ln/>
        </p:spPr>
        <p:txBody>
          <a:bodyPr wrap="square" lIns="0" tIns="0" rIns="0" bIns="0" rtlCol="0" anchor="t"/>
          <a:lstStyle/>
          <a:p>
            <a:pPr marL="342900" indent="-342900" algn="l">
              <a:lnSpc>
                <a:spcPts val="3000"/>
              </a:lnSpc>
              <a:buSzPct val="100000"/>
              <a:buFont typeface="+mj-lt"/>
              <a:buAutoNum type="arabicPeriod"/>
            </a:pPr>
            <a:r>
              <a:rPr lang="en-US" sz="1850" b="1" dirty="0">
                <a:solidFill>
                  <a:srgbClr val="D6E5EF"/>
                </a:solidFill>
                <a:latin typeface="Source Sans Pro" pitchFamily="34" charset="0"/>
                <a:ea typeface="Source Sans Pro" pitchFamily="34" charset="-122"/>
                <a:cs typeface="Source Sans Pro" pitchFamily="34" charset="-120"/>
              </a:rPr>
              <a:t>Display Performance</a:t>
            </a:r>
            <a:r>
              <a:rPr lang="en-US" sz="1850" dirty="0">
                <a:solidFill>
                  <a:srgbClr val="D6E5EF"/>
                </a:solidFill>
                <a:latin typeface="Source Sans Pro" pitchFamily="34" charset="0"/>
                <a:ea typeface="Source Sans Pro" pitchFamily="34" charset="-122"/>
                <a:cs typeface="Source Sans Pro" pitchFamily="34" charset="-120"/>
              </a:rPr>
              <a:t>: Assesses the clarity and reliability of the LCD screen in showing AQI values in various environmental conditions.</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2223" y="506254"/>
            <a:ext cx="4317921" cy="539710"/>
          </a:xfrm>
          <a:prstGeom prst="rect">
            <a:avLst/>
          </a:prstGeom>
          <a:noFill/>
          <a:ln/>
        </p:spPr>
        <p:txBody>
          <a:bodyPr wrap="none" lIns="0" tIns="0" rIns="0" bIns="0" rtlCol="0" anchor="t"/>
          <a:lstStyle/>
          <a:p>
            <a:pPr marL="0" indent="0" algn="l">
              <a:lnSpc>
                <a:spcPts val="4200"/>
              </a:lnSpc>
              <a:buNone/>
            </a:pPr>
            <a:r>
              <a:rPr lang="en-US" sz="3350" dirty="0">
                <a:solidFill>
                  <a:srgbClr val="F98AC7"/>
                </a:solidFill>
                <a:latin typeface="Lora" pitchFamily="34" charset="0"/>
                <a:ea typeface="Lora" pitchFamily="34" charset="-122"/>
                <a:cs typeface="Lora" pitchFamily="34" charset="-120"/>
              </a:rPr>
              <a:t>Indoor Reading</a:t>
            </a:r>
            <a:endParaRPr lang="en-US" sz="3350" dirty="0"/>
          </a:p>
        </p:txBody>
      </p:sp>
      <p:pic>
        <p:nvPicPr>
          <p:cNvPr id="3" name="Image 0" descr="preencoded.png"/>
          <p:cNvPicPr>
            <a:picLocks noChangeAspect="1"/>
          </p:cNvPicPr>
          <p:nvPr/>
        </p:nvPicPr>
        <p:blipFill>
          <a:blip r:embed="rId3"/>
          <a:stretch>
            <a:fillRect/>
          </a:stretch>
        </p:blipFill>
        <p:spPr>
          <a:xfrm>
            <a:off x="642223" y="1527453"/>
            <a:ext cx="4618911" cy="5023604"/>
          </a:xfrm>
          <a:prstGeom prst="rect">
            <a:avLst/>
          </a:prstGeom>
        </p:spPr>
      </p:pic>
      <p:sp>
        <p:nvSpPr>
          <p:cNvPr id="4" name="Text 1"/>
          <p:cNvSpPr/>
          <p:nvPr/>
        </p:nvSpPr>
        <p:spPr>
          <a:xfrm>
            <a:off x="642223" y="6757392"/>
            <a:ext cx="2590681" cy="323850"/>
          </a:xfrm>
          <a:prstGeom prst="rect">
            <a:avLst/>
          </a:prstGeom>
          <a:noFill/>
          <a:ln/>
        </p:spPr>
        <p:txBody>
          <a:bodyPr wrap="none" lIns="0" tIns="0" rIns="0" bIns="0" rtlCol="0" anchor="t"/>
          <a:lstStyle/>
          <a:p>
            <a:pPr marL="0" indent="0" algn="l">
              <a:lnSpc>
                <a:spcPts val="2500"/>
              </a:lnSpc>
              <a:buNone/>
            </a:pPr>
            <a:r>
              <a:rPr lang="en-US" sz="2000" dirty="0">
                <a:solidFill>
                  <a:srgbClr val="F98AC7"/>
                </a:solidFill>
                <a:latin typeface="Lora" pitchFamily="34" charset="0"/>
                <a:ea typeface="Lora" pitchFamily="34" charset="-122"/>
                <a:cs typeface="Lora" pitchFamily="34" charset="-120"/>
              </a:rPr>
              <a:t> </a:t>
            </a:r>
            <a:endParaRPr lang="en-US" sz="2000" dirty="0"/>
          </a:p>
        </p:txBody>
      </p:sp>
      <p:sp>
        <p:nvSpPr>
          <p:cNvPr id="5" name="Text 2"/>
          <p:cNvSpPr/>
          <p:nvPr/>
        </p:nvSpPr>
        <p:spPr>
          <a:xfrm>
            <a:off x="642223" y="7264718"/>
            <a:ext cx="6449139" cy="293489"/>
          </a:xfrm>
          <a:prstGeom prst="rect">
            <a:avLst/>
          </a:prstGeom>
          <a:noFill/>
          <a:ln/>
        </p:spPr>
        <p:txBody>
          <a:bodyPr wrap="none" lIns="0" tIns="0" rIns="0" bIns="0" rtlCol="0" anchor="t"/>
          <a:lstStyle/>
          <a:p>
            <a:pPr marL="0" indent="0" algn="l">
              <a:lnSpc>
                <a:spcPts val="2300"/>
              </a:lnSpc>
              <a:buNone/>
            </a:pPr>
            <a:r>
              <a:rPr lang="en-US" sz="1400" dirty="0">
                <a:solidFill>
                  <a:srgbClr val="D6E5EF"/>
                </a:solidFill>
                <a:latin typeface="Source Sans Pro" pitchFamily="34" charset="0"/>
                <a:ea typeface="Source Sans Pro" pitchFamily="34" charset="-122"/>
                <a:cs typeface="Source Sans Pro" pitchFamily="34" charset="-120"/>
              </a:rPr>
              <a:t> </a:t>
            </a:r>
            <a:endParaRPr lang="en-US" sz="1400" dirty="0"/>
          </a:p>
        </p:txBody>
      </p:sp>
      <p:pic>
        <p:nvPicPr>
          <p:cNvPr id="6" name="Image 1" descr="preencoded.png"/>
          <p:cNvPicPr>
            <a:picLocks noChangeAspect="1"/>
          </p:cNvPicPr>
          <p:nvPr/>
        </p:nvPicPr>
        <p:blipFill>
          <a:blip r:embed="rId4"/>
          <a:stretch>
            <a:fillRect/>
          </a:stretch>
        </p:blipFill>
        <p:spPr>
          <a:xfrm>
            <a:off x="9868495" y="1527453"/>
            <a:ext cx="1805345" cy="5023485"/>
          </a:xfrm>
          <a:prstGeom prst="rect">
            <a:avLst/>
          </a:prstGeom>
        </p:spPr>
      </p:pic>
      <p:sp>
        <p:nvSpPr>
          <p:cNvPr id="7" name="Text 3"/>
          <p:cNvSpPr/>
          <p:nvPr/>
        </p:nvSpPr>
        <p:spPr>
          <a:xfrm>
            <a:off x="7546658" y="6757273"/>
            <a:ext cx="2590681" cy="323850"/>
          </a:xfrm>
          <a:prstGeom prst="rect">
            <a:avLst/>
          </a:prstGeom>
          <a:noFill/>
          <a:ln/>
        </p:spPr>
        <p:txBody>
          <a:bodyPr wrap="none" lIns="0" tIns="0" rIns="0" bIns="0" rtlCol="0" anchor="t"/>
          <a:lstStyle/>
          <a:p>
            <a:pPr marL="0" indent="0" algn="l">
              <a:lnSpc>
                <a:spcPts val="2500"/>
              </a:lnSpc>
              <a:buNone/>
            </a:pPr>
            <a:r>
              <a:rPr lang="en-US" sz="2000" dirty="0">
                <a:solidFill>
                  <a:srgbClr val="F98AC7"/>
                </a:solidFill>
                <a:latin typeface="Lora" pitchFamily="34" charset="0"/>
                <a:ea typeface="Lora" pitchFamily="34" charset="-122"/>
                <a:cs typeface="Lora" pitchFamily="34" charset="-120"/>
              </a:rPr>
              <a:t> </a:t>
            </a:r>
            <a:endParaRPr lang="en-US" sz="2000" dirty="0"/>
          </a:p>
        </p:txBody>
      </p:sp>
      <p:sp>
        <p:nvSpPr>
          <p:cNvPr id="8" name="Text 4"/>
          <p:cNvSpPr/>
          <p:nvPr/>
        </p:nvSpPr>
        <p:spPr>
          <a:xfrm>
            <a:off x="7546658" y="7264598"/>
            <a:ext cx="6449139" cy="293489"/>
          </a:xfrm>
          <a:prstGeom prst="rect">
            <a:avLst/>
          </a:prstGeom>
          <a:noFill/>
          <a:ln/>
        </p:spPr>
        <p:txBody>
          <a:bodyPr wrap="none" lIns="0" tIns="0" rIns="0" bIns="0" rtlCol="0" anchor="t"/>
          <a:lstStyle/>
          <a:p>
            <a:pPr marL="0" indent="0" algn="l">
              <a:lnSpc>
                <a:spcPts val="2300"/>
              </a:lnSpc>
              <a:buNone/>
            </a:pPr>
            <a:r>
              <a:rPr lang="en-US" sz="1400" dirty="0">
                <a:solidFill>
                  <a:srgbClr val="D6E5EF"/>
                </a:solidFill>
                <a:latin typeface="Source Sans Pro" pitchFamily="34" charset="0"/>
                <a:ea typeface="Source Sans Pro" pitchFamily="34" charset="-122"/>
                <a:cs typeface="Source Sans Pro" pitchFamily="34" charset="-120"/>
              </a:rPr>
              <a:t> </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1646992"/>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Outdoor Readings</a:t>
            </a:r>
            <a:endParaRPr lang="en-US" sz="4400" dirty="0"/>
          </a:p>
        </p:txBody>
      </p:sp>
      <p:pic>
        <p:nvPicPr>
          <p:cNvPr id="3" name="Image 0" descr="preencoded.png"/>
          <p:cNvPicPr>
            <a:picLocks noChangeAspect="1"/>
          </p:cNvPicPr>
          <p:nvPr/>
        </p:nvPicPr>
        <p:blipFill>
          <a:blip r:embed="rId3"/>
          <a:stretch>
            <a:fillRect/>
          </a:stretch>
        </p:blipFill>
        <p:spPr>
          <a:xfrm>
            <a:off x="837724" y="2979182"/>
            <a:ext cx="2800826" cy="2144435"/>
          </a:xfrm>
          <a:prstGeom prst="rect">
            <a:avLst/>
          </a:prstGeom>
        </p:spPr>
      </p:pic>
      <p:sp>
        <p:nvSpPr>
          <p:cNvPr id="4" name="Text 1"/>
          <p:cNvSpPr/>
          <p:nvPr/>
        </p:nvSpPr>
        <p:spPr>
          <a:xfrm>
            <a:off x="837724" y="5392817"/>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 </a:t>
            </a:r>
            <a:endParaRPr lang="en-US" sz="2200" dirty="0"/>
          </a:p>
        </p:txBody>
      </p:sp>
      <p:sp>
        <p:nvSpPr>
          <p:cNvPr id="5" name="Text 2"/>
          <p:cNvSpPr/>
          <p:nvPr/>
        </p:nvSpPr>
        <p:spPr>
          <a:xfrm>
            <a:off x="837724" y="5984081"/>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sp>
        <p:nvSpPr>
          <p:cNvPr id="6" name="Text 3"/>
          <p:cNvSpPr/>
          <p:nvPr/>
        </p:nvSpPr>
        <p:spPr>
          <a:xfrm>
            <a:off x="4230053" y="2925366"/>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pic>
        <p:nvPicPr>
          <p:cNvPr id="7" name="Image 1" descr="preencoded.png"/>
          <p:cNvPicPr>
            <a:picLocks noChangeAspect="1"/>
          </p:cNvPicPr>
          <p:nvPr/>
        </p:nvPicPr>
        <p:blipFill>
          <a:blip r:embed="rId4"/>
          <a:stretch>
            <a:fillRect/>
          </a:stretch>
        </p:blipFill>
        <p:spPr>
          <a:xfrm>
            <a:off x="4230053" y="3577590"/>
            <a:ext cx="2800826" cy="1107638"/>
          </a:xfrm>
          <a:prstGeom prst="rect">
            <a:avLst/>
          </a:prstGeom>
        </p:spPr>
      </p:pic>
      <p:sp>
        <p:nvSpPr>
          <p:cNvPr id="8" name="Text 4"/>
          <p:cNvSpPr/>
          <p:nvPr/>
        </p:nvSpPr>
        <p:spPr>
          <a:xfrm>
            <a:off x="4230053" y="4954429"/>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 </a:t>
            </a:r>
            <a:endParaRPr lang="en-US" sz="2200" dirty="0"/>
          </a:p>
        </p:txBody>
      </p:sp>
      <p:sp>
        <p:nvSpPr>
          <p:cNvPr id="9" name="Text 5"/>
          <p:cNvSpPr/>
          <p:nvPr/>
        </p:nvSpPr>
        <p:spPr>
          <a:xfrm>
            <a:off x="4230053" y="5545693"/>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pic>
        <p:nvPicPr>
          <p:cNvPr id="10" name="Image 2" descr="preencoded.png"/>
          <p:cNvPicPr>
            <a:picLocks noChangeAspect="1"/>
          </p:cNvPicPr>
          <p:nvPr/>
        </p:nvPicPr>
        <p:blipFill>
          <a:blip r:embed="rId5"/>
          <a:stretch>
            <a:fillRect/>
          </a:stretch>
        </p:blipFill>
        <p:spPr>
          <a:xfrm>
            <a:off x="7622381" y="2979182"/>
            <a:ext cx="2800826" cy="1769983"/>
          </a:xfrm>
          <a:prstGeom prst="rect">
            <a:avLst/>
          </a:prstGeom>
        </p:spPr>
      </p:pic>
      <p:sp>
        <p:nvSpPr>
          <p:cNvPr id="11" name="Text 6"/>
          <p:cNvSpPr/>
          <p:nvPr/>
        </p:nvSpPr>
        <p:spPr>
          <a:xfrm>
            <a:off x="7622381" y="5018365"/>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 </a:t>
            </a:r>
            <a:endParaRPr lang="en-US" sz="2200" dirty="0"/>
          </a:p>
        </p:txBody>
      </p:sp>
      <p:sp>
        <p:nvSpPr>
          <p:cNvPr id="12" name="Text 7"/>
          <p:cNvSpPr/>
          <p:nvPr/>
        </p:nvSpPr>
        <p:spPr>
          <a:xfrm>
            <a:off x="7622381" y="5609630"/>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sp>
        <p:nvSpPr>
          <p:cNvPr id="13" name="Text 8"/>
          <p:cNvSpPr/>
          <p:nvPr/>
        </p:nvSpPr>
        <p:spPr>
          <a:xfrm>
            <a:off x="11014710" y="2925366"/>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pic>
        <p:nvPicPr>
          <p:cNvPr id="14" name="Image 3" descr="preencoded.png"/>
          <p:cNvPicPr>
            <a:picLocks noChangeAspect="1"/>
          </p:cNvPicPr>
          <p:nvPr/>
        </p:nvPicPr>
        <p:blipFill>
          <a:blip r:embed="rId6"/>
          <a:stretch>
            <a:fillRect/>
          </a:stretch>
        </p:blipFill>
        <p:spPr>
          <a:xfrm>
            <a:off x="11014710" y="3577590"/>
            <a:ext cx="2800826" cy="1170742"/>
          </a:xfrm>
          <a:prstGeom prst="rect">
            <a:avLst/>
          </a:prstGeom>
        </p:spPr>
      </p:pic>
      <p:sp>
        <p:nvSpPr>
          <p:cNvPr id="15" name="Text 9"/>
          <p:cNvSpPr/>
          <p:nvPr/>
        </p:nvSpPr>
        <p:spPr>
          <a:xfrm>
            <a:off x="11014710" y="5017532"/>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 </a:t>
            </a:r>
            <a:endParaRPr lang="en-US" sz="2200" dirty="0"/>
          </a:p>
        </p:txBody>
      </p:sp>
      <p:sp>
        <p:nvSpPr>
          <p:cNvPr id="16" name="Text 10"/>
          <p:cNvSpPr/>
          <p:nvPr/>
        </p:nvSpPr>
        <p:spPr>
          <a:xfrm>
            <a:off x="11014710" y="5608796"/>
            <a:ext cx="280082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t>
            </a: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10565" y="558284"/>
            <a:ext cx="4777502" cy="597218"/>
          </a:xfrm>
          <a:prstGeom prst="rect">
            <a:avLst/>
          </a:prstGeom>
          <a:noFill/>
          <a:ln/>
        </p:spPr>
        <p:txBody>
          <a:bodyPr wrap="none" lIns="0" tIns="0" rIns="0" bIns="0" rtlCol="0" anchor="t"/>
          <a:lstStyle/>
          <a:p>
            <a:pPr marL="0" indent="0" algn="l">
              <a:lnSpc>
                <a:spcPts val="4700"/>
              </a:lnSpc>
              <a:buNone/>
            </a:pPr>
            <a:r>
              <a:rPr lang="en-US" sz="3750" dirty="0">
                <a:solidFill>
                  <a:srgbClr val="F98AC7"/>
                </a:solidFill>
                <a:latin typeface="Lora" pitchFamily="34" charset="0"/>
                <a:ea typeface="Lora" pitchFamily="34" charset="-122"/>
                <a:cs typeface="Lora" pitchFamily="34" charset="-120"/>
              </a:rPr>
              <a:t>Graph</a:t>
            </a:r>
            <a:endParaRPr lang="en-US" sz="3750" dirty="0"/>
          </a:p>
        </p:txBody>
      </p:sp>
      <p:pic>
        <p:nvPicPr>
          <p:cNvPr id="3" name="Image 0" descr="preencoded.png"/>
          <p:cNvPicPr>
            <a:picLocks noChangeAspect="1"/>
          </p:cNvPicPr>
          <p:nvPr/>
        </p:nvPicPr>
        <p:blipFill>
          <a:blip r:embed="rId3"/>
          <a:stretch>
            <a:fillRect/>
          </a:stretch>
        </p:blipFill>
        <p:spPr>
          <a:xfrm>
            <a:off x="2773918" y="1561505"/>
            <a:ext cx="9082564" cy="5558314"/>
          </a:xfrm>
          <a:prstGeom prst="rect">
            <a:avLst/>
          </a:prstGeom>
        </p:spPr>
      </p:pic>
      <p:sp>
        <p:nvSpPr>
          <p:cNvPr id="4" name="Text 1"/>
          <p:cNvSpPr/>
          <p:nvPr/>
        </p:nvSpPr>
        <p:spPr>
          <a:xfrm>
            <a:off x="710565" y="7348180"/>
            <a:ext cx="13209270" cy="324802"/>
          </a:xfrm>
          <a:prstGeom prst="rect">
            <a:avLst/>
          </a:prstGeom>
          <a:noFill/>
          <a:ln/>
        </p:spPr>
        <p:txBody>
          <a:bodyPr wrap="none" lIns="0" tIns="0" rIns="0" bIns="0" rtlCol="0" anchor="t"/>
          <a:lstStyle/>
          <a:p>
            <a:pPr marL="0" indent="0" algn="l">
              <a:lnSpc>
                <a:spcPts val="2550"/>
              </a:lnSpc>
              <a:buNone/>
            </a:pP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212771"/>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Conclusion and Future Improvements</a:t>
            </a:r>
            <a:endParaRPr lang="en-US" sz="4400" dirty="0"/>
          </a:p>
        </p:txBody>
      </p:sp>
      <p:sp>
        <p:nvSpPr>
          <p:cNvPr id="4" name="Shape 1"/>
          <p:cNvSpPr/>
          <p:nvPr/>
        </p:nvSpPr>
        <p:spPr>
          <a:xfrm>
            <a:off x="6324124" y="2979777"/>
            <a:ext cx="179427" cy="878562"/>
          </a:xfrm>
          <a:prstGeom prst="roundRect">
            <a:avLst>
              <a:gd name="adj" fmla="val 20012"/>
            </a:avLst>
          </a:prstGeom>
          <a:solidFill>
            <a:srgbClr val="444752"/>
          </a:solidFill>
          <a:ln/>
        </p:spPr>
        <p:txBody>
          <a:bodyPr/>
          <a:lstStyle/>
          <a:p>
            <a:endParaRPr lang="en-IN"/>
          </a:p>
        </p:txBody>
      </p:sp>
      <p:sp>
        <p:nvSpPr>
          <p:cNvPr id="5" name="Text 2"/>
          <p:cNvSpPr/>
          <p:nvPr/>
        </p:nvSpPr>
        <p:spPr>
          <a:xfrm>
            <a:off x="6862524" y="2979777"/>
            <a:ext cx="3490793"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Successful AQI Monitoring</a:t>
            </a:r>
            <a:endParaRPr lang="en-US" sz="2200" dirty="0"/>
          </a:p>
        </p:txBody>
      </p:sp>
      <p:sp>
        <p:nvSpPr>
          <p:cNvPr id="6" name="Text 3"/>
          <p:cNvSpPr/>
          <p:nvPr/>
        </p:nvSpPr>
        <p:spPr>
          <a:xfrm>
            <a:off x="6862524" y="3475315"/>
            <a:ext cx="693015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Real-time AQI monitoring achieved using MQ135 sensor and Arduino.</a:t>
            </a:r>
            <a:endParaRPr lang="en-US" sz="1850" dirty="0"/>
          </a:p>
        </p:txBody>
      </p:sp>
      <p:sp>
        <p:nvSpPr>
          <p:cNvPr id="7" name="Shape 4"/>
          <p:cNvSpPr/>
          <p:nvPr/>
        </p:nvSpPr>
        <p:spPr>
          <a:xfrm>
            <a:off x="6683097" y="4097655"/>
            <a:ext cx="179427" cy="878562"/>
          </a:xfrm>
          <a:prstGeom prst="roundRect">
            <a:avLst>
              <a:gd name="adj" fmla="val 20012"/>
            </a:avLst>
          </a:prstGeom>
          <a:solidFill>
            <a:srgbClr val="444752"/>
          </a:solidFill>
          <a:ln/>
        </p:spPr>
        <p:txBody>
          <a:bodyPr/>
          <a:lstStyle/>
          <a:p>
            <a:endParaRPr lang="en-IN"/>
          </a:p>
        </p:txBody>
      </p:sp>
      <p:sp>
        <p:nvSpPr>
          <p:cNvPr id="8" name="Text 5"/>
          <p:cNvSpPr/>
          <p:nvPr/>
        </p:nvSpPr>
        <p:spPr>
          <a:xfrm>
            <a:off x="7221498" y="4097655"/>
            <a:ext cx="3082409"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Possible Enhancements</a:t>
            </a:r>
            <a:endParaRPr lang="en-US" sz="2200" dirty="0"/>
          </a:p>
        </p:txBody>
      </p:sp>
      <p:sp>
        <p:nvSpPr>
          <p:cNvPr id="9" name="Text 6"/>
          <p:cNvSpPr/>
          <p:nvPr/>
        </p:nvSpPr>
        <p:spPr>
          <a:xfrm>
            <a:off x="7221498" y="4593193"/>
            <a:ext cx="6571178"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Implement Wi-Fi module, Blynk integration, or a cloud dashboard</a:t>
            </a:r>
            <a:endParaRPr lang="en-US" sz="1850" dirty="0"/>
          </a:p>
        </p:txBody>
      </p:sp>
      <p:sp>
        <p:nvSpPr>
          <p:cNvPr id="10" name="Text 7"/>
          <p:cNvSpPr/>
          <p:nvPr/>
        </p:nvSpPr>
        <p:spPr>
          <a:xfrm>
            <a:off x="6324124" y="5484733"/>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project successfully demonstrates a functional real-time AQI monitoring system. Future enhancements include adding a Wi-Fi module for remote data logging, Blynk integration for smartphone control, and a cloud dashboard for comprehensive data visualization and analysis.</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37724" y="256579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References</a:t>
            </a:r>
            <a:endParaRPr lang="en-US" sz="4400" dirty="0"/>
          </a:p>
        </p:txBody>
      </p:sp>
      <p:sp>
        <p:nvSpPr>
          <p:cNvPr id="3" name="Text 1"/>
          <p:cNvSpPr/>
          <p:nvPr/>
        </p:nvSpPr>
        <p:spPr>
          <a:xfrm>
            <a:off x="837724" y="3748564"/>
            <a:ext cx="12954952"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 Arduino Documentation. (n.d.). Arduino Reference Guide.
• Wire Library. (n.d.). I2C Communication for Arduino Microcontrollers.
• LiquidCrystal_I2C Library. (n.d.). LiquidCrystal I2C Documentation for LCD Control.
• MQ-135 Gas Sensor Datasheet. (n.d.). Technical Documentation for Air Quality Measurement.
• Han, J., Kamber, M., &amp; Pei, J. (2011). Data Mining: Concepts and Techniques (3rd ed.). Elsevier.</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1709</Words>
  <Application>Microsoft Office PowerPoint</Application>
  <PresentationFormat>Custom</PresentationFormat>
  <Paragraphs>101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Source Sans Pro</vt:lpstr>
      <vt:lpstr>Arial</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Asmit bisht</cp:lastModifiedBy>
  <cp:revision>2</cp:revision>
  <dcterms:created xsi:type="dcterms:W3CDTF">2025-04-23T10:49:47Z</dcterms:created>
  <dcterms:modified xsi:type="dcterms:W3CDTF">2025-05-02T07:38:15Z</dcterms:modified>
</cp:coreProperties>
</file>